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64" r:id="rId11"/>
    <p:sldId id="27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68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400B8-1801-B8DD-1B04-6A651F9A5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001B9E-A306-32F6-EEB3-463BA5192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026D17-9F45-B6A1-4877-E6D223319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97C3D-ACFE-BEC9-8D88-5F901275DD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5155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2A849-CFF3-3E66-A5AE-6F46F521F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7783DD-50B5-9AAF-A060-39BB72E5D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C4E5CE-5AEA-A5EA-A757-EE83A99C1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C5DEC-B7D7-51AF-8F20-D008D9B98F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3191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4572000" cy="2743200"/>
          </a:xfrm>
          <a:prstGeom prst="rect">
            <a:avLst/>
          </a:prstGeom>
          <a:solidFill>
            <a:srgbClr val="CB356B">
              <a:alpha val="15000"/>
            </a:srgbClr>
          </a:solidFill>
          <a:ln w="12700">
            <a:solidFill>
              <a:srgbClr val="CB356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61DAFB">
              <a:alpha val="10000"/>
            </a:srgbClr>
          </a:solidFill>
          <a:ln w="12700">
            <a:solidFill>
              <a:srgbClr val="61DAFB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886200" y="365760"/>
            <a:ext cx="1371600" cy="1371600"/>
          </a:xfrm>
          <a:prstGeom prst="ellipse">
            <a:avLst/>
          </a:prstGeom>
          <a:solidFill>
            <a:srgbClr val="61DAFB">
              <a:alpha val="80000"/>
            </a:srgbClr>
          </a:solidFill>
          <a:ln w="25400">
            <a:solidFill>
              <a:srgbClr val="61D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886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20232A"/>
                </a:solidFill>
              </a:rPr>
              <a:t>⚛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React Aula 3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1DAFB"/>
                </a:solidFill>
              </a:rPr>
              <a:t>Todo List (</a:t>
            </a:r>
            <a:r>
              <a:rPr lang="en-US" sz="2200" dirty="0" err="1">
                <a:solidFill>
                  <a:srgbClr val="61DAFB"/>
                </a:solidFill>
              </a:rPr>
              <a:t>lista</a:t>
            </a:r>
            <a:r>
              <a:rPr lang="en-US" sz="2200" dirty="0">
                <a:solidFill>
                  <a:srgbClr val="61DAFB"/>
                </a:solidFill>
              </a:rPr>
              <a:t> de </a:t>
            </a:r>
            <a:r>
              <a:rPr lang="en-US" sz="2200" dirty="0" err="1">
                <a:solidFill>
                  <a:srgbClr val="61DAFB"/>
                </a:solidFill>
              </a:rPr>
              <a:t>tarefas</a:t>
            </a:r>
            <a:r>
              <a:rPr lang="en-US" sz="2200" dirty="0">
                <a:solidFill>
                  <a:srgbClr val="61DAFB"/>
                </a:solidFill>
              </a:rPr>
              <a:t>) com useState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2A4"/>
                </a:solidFill>
              </a:rPr>
              <a:t>Styled Components • Listas • Estado de Componentes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1DAFB"/>
                </a:solidFill>
              </a:rPr>
              <a:t>O Que Vamos Criar Hoje?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303520" y="822960"/>
            <a:ext cx="3474720" cy="402336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303520" y="822960"/>
            <a:ext cx="3474720" cy="1280160"/>
          </a:xfrm>
          <a:prstGeom prst="rect">
            <a:avLst/>
          </a:prstGeom>
          <a:solidFill>
            <a:srgbClr val="CB356B"/>
          </a:solidFill>
          <a:ln w="12700">
            <a:solidFill>
              <a:srgbClr val="CB35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858000" y="822960"/>
            <a:ext cx="1920240" cy="1280160"/>
          </a:xfrm>
          <a:prstGeom prst="rect">
            <a:avLst/>
          </a:prstGeom>
          <a:solidFill>
            <a:srgbClr val="BD3F32">
              <a:alpha val="60000"/>
            </a:srgbClr>
          </a:solidFill>
          <a:ln w="12700">
            <a:solidFill>
              <a:srgbClr val="BD3F3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40680" y="960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Velejando com o React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4068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sexta-feira, 5 de agosto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40680" y="2240280"/>
            <a:ext cx="3200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440680" y="2240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</a:rPr>
              <a:t>Digite um novo conteúdo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40680" y="2834640"/>
            <a:ext cx="3200400" cy="411480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440680" y="2834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0232A"/>
                </a:solidFill>
              </a:rPr>
              <a:t>Lavar a louça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40680" y="3337560"/>
            <a:ext cx="3200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44068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</a:rPr>
              <a:t>Tirar o lixo ~~strikethrough~~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822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32A"/>
                </a:solidFill>
              </a:rPr>
              <a:t>Nossa Todo List vai ter: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1417320"/>
            <a:ext cx="4572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02920" y="1417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A"/>
                </a:solidFill>
              </a:rPr>
              <a:t>Título com degradê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1737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Fundo colorido com data atual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167128"/>
            <a:ext cx="4572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02920" y="216712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22128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A"/>
                </a:solidFill>
              </a:rPr>
              <a:t>Campo de entrada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24871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Digitar novas tarefas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916936"/>
            <a:ext cx="4572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02920" y="291693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97280" y="29626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A"/>
                </a:solidFill>
              </a:rPr>
              <a:t>Estado das tarefas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323697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Marcar como feito/não feito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666744"/>
            <a:ext cx="4572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502920" y="366674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97280" y="37124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A"/>
                </a:solidFill>
              </a:rPr>
              <a:t>Lista dinâmica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97280" y="39867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Adicionar e exibir tarefas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65760" y="109728"/>
            <a:ext cx="1005840" cy="457200"/>
          </a:xfrm>
          <a:prstGeom prst="rect">
            <a:avLst/>
          </a:prstGeom>
          <a:solidFill>
            <a:srgbClr val="CB356B"/>
          </a:solidFill>
          <a:ln w="12700">
            <a:solidFill>
              <a:srgbClr val="CB35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Lesson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0876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1DAFB"/>
                </a:solidFill>
              </a:rPr>
              <a:t>Criando Nova Aplicação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32A"/>
                </a:solidFill>
              </a:rPr>
              <a:t>Vamos criar o projeto no Terminal: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4023360" cy="347472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94360" y="1353312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Desktop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create vite@latest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nome: proj03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framework: React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variant: JavaScript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proj03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styled-components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A"/>
                </a:solidFill>
              </a:rPr>
              <a:t>O que cada comando faz: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298448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937760" y="1353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3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Desktop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5910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Entra na área de trabalho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956816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3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create vite@latest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2494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Cria projeto React moderno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615184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937760" y="2670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3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proj03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9077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Entra na pasta do projeto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273552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937760" y="33284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3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3566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Instala dependências base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931920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937760" y="39867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3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styled-components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4224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Instala estilização dinâmica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(--save não é mais necessário!)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solidFill>
            <a:srgbClr val="FFF3CD"/>
          </a:solidFill>
          <a:ln w="12700">
            <a:solidFill>
              <a:srgbClr val="FFEA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56404"/>
                </a:solidFill>
              </a:rPr>
              <a:t>💡 Depois: abra o VSCode com o comando   code .   dentro da pasta do projeto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65760" y="109728"/>
            <a:ext cx="1005840" cy="457200"/>
          </a:xfrm>
          <a:prstGeom prst="rect">
            <a:avLst/>
          </a:prstGeom>
          <a:solidFill>
            <a:srgbClr val="CB356B"/>
          </a:solidFill>
          <a:ln w="12700">
            <a:solidFill>
              <a:srgbClr val="CB35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Lesson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0876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1DAFB"/>
                </a:solidFill>
              </a:rPr>
              <a:t>Arquivos Base: HTML e CSS Global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61288"/>
            <a:ext cx="4206240" cy="379476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94360" y="1252728"/>
            <a:ext cx="39319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&lt;head&gt;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charset="UTF-8"/&gt;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name="viewport“ content="width=device-width,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initial-scale=1.0"/&gt;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&lt;title&gt;Velejando com o React&lt;/title&gt;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&lt;/head&gt;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&lt;body&gt;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id="root"&gt;&lt;/div&gt;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&lt;script type="module"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src="/src/main.jsx"&gt;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&lt;/script&gt;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&lt;/body&gt;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0" y="8046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src/index.css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1161288"/>
            <a:ext cx="3840480" cy="237744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074920" y="1252728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--page-max-width: 720px;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#eee;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#222;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font-family: "Arial", sans-serif;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16px;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0 auto;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100%;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max-width: var(--page-max-width);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0 16px;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3657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32A"/>
                </a:solidFill>
              </a:rPr>
              <a:t>O que cada parte faz: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4005072"/>
            <a:ext cx="3840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0" y="4005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32A"/>
                </a:solidFill>
              </a:rPr>
              <a:t>:root { } → define variaveis CSS globais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37760" y="4279392"/>
            <a:ext cx="3840480" cy="256032"/>
          </a:xfrm>
          <a:prstGeom prst="rect">
            <a:avLst/>
          </a:prstGeom>
          <a:solidFill>
            <a:srgbClr val="F8F9FA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029200" y="4279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32A"/>
                </a:solidFill>
              </a:rPr>
              <a:t>--page-max-width → variavel reutilizavel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37760" y="4553712"/>
            <a:ext cx="3840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029200" y="45537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32A"/>
                </a:solidFill>
              </a:rPr>
              <a:t>max-width + width: 100% → responsivo e limitado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937760" y="4828032"/>
            <a:ext cx="3840480" cy="256032"/>
          </a:xfrm>
          <a:prstGeom prst="rect">
            <a:avLst/>
          </a:prstGeom>
          <a:solidFill>
            <a:srgbClr val="F8F9FA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029200" y="4828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232A"/>
                </a:solidFill>
              </a:rPr>
              <a:t>padding: 0 16px → respira em telas pequenas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5093208"/>
            <a:ext cx="8229600" cy="347472"/>
          </a:xfrm>
          <a:prstGeom prst="rect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48640" y="509320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1DAFB"/>
                </a:solidFill>
              </a:rPr>
              <a:t>CSS global em src/index.css, importado no main.jsx (proximo slide) — sem link no HTML!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65760" y="109728"/>
            <a:ext cx="1005840" cy="457200"/>
          </a:xfrm>
          <a:prstGeom prst="rect">
            <a:avLst/>
          </a:prstGeom>
          <a:solidFill>
            <a:srgbClr val="CB356B"/>
          </a:solidFill>
          <a:ln w="12700">
            <a:solidFill>
              <a:srgbClr val="CB35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Lesson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0876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1DAFB"/>
                </a:solidFill>
              </a:rPr>
              <a:t>Configurando: index.css e main.jsx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src/index.css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4297680" cy="36576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02920" y="1252728"/>
            <a:ext cx="4023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--page-max-width: 720px;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#eee;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#222;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font-family: "Arial", sans-serif;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16px;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0 auto;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100%;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max-width: var(--page-max-width);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0 16px;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0" y="8046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src/main.jsx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161288"/>
            <a:ext cx="4023360" cy="338328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983480" y="1252728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StrictMode } from "react"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createRoot } from "react-dom/client"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"./index.css"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{App} from "./</a:t>
            </a:r>
            <a:r>
              <a:rPr lang="en-US" sz="10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App.jsx</a:t>
            </a: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createRoot</a:t>
            </a: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 err="1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document.getElementById</a:t>
            </a: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("root")).render(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&lt;StrictMode&gt;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&lt;App /&gt;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&lt;/StrictMode&gt;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4663440"/>
            <a:ext cx="4023360" cy="548640"/>
          </a:xfrm>
          <a:prstGeom prst="rect">
            <a:avLst/>
          </a:prstGeom>
          <a:solidFill>
            <a:srgbClr val="FFF3CD"/>
          </a:solidFill>
          <a:ln w="12700">
            <a:solidFill>
              <a:srgbClr val="FFEA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937760" y="46634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56404"/>
                </a:solidFill>
              </a:rPr>
              <a:t>StrictMode: modo especial que ativa alertas extras durante o desenvolvimento para ajudar a encontrar erros!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4910328"/>
            <a:ext cx="4297680" cy="411480"/>
          </a:xfrm>
          <a:prstGeom prst="rect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57200" y="49103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DAFB"/>
                </a:solidFill>
              </a:rPr>
              <a:t>--page-max-width: variavel CSS (custom property) — boa pratica para reutilizar valores!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65760" y="109728"/>
            <a:ext cx="1005840" cy="457200"/>
          </a:xfrm>
          <a:prstGeom prst="rect">
            <a:avLst/>
          </a:prstGeom>
          <a:solidFill>
            <a:srgbClr val="CB356B"/>
          </a:solidFill>
          <a:ln w="12700">
            <a:solidFill>
              <a:srgbClr val="CB35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Lesson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0876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1DAFB"/>
                </a:solidFill>
              </a:rPr>
              <a:t>Configurando o </a:t>
            </a:r>
            <a:r>
              <a:rPr lang="en-US" sz="1800" b="1" dirty="0" err="1">
                <a:solidFill>
                  <a:srgbClr val="61DAFB"/>
                </a:solidFill>
              </a:rPr>
              <a:t>Inicio.jsx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r>
              <a:rPr lang="en-US" sz="1300" b="1" dirty="0" err="1">
                <a:solidFill>
                  <a:srgbClr val="20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Inicio.jsx</a:t>
            </a:r>
            <a:r>
              <a:rPr lang="en-US" sz="1300" b="1" dirty="0">
                <a:solidFill>
                  <a:srgbClr val="20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(componente inicial)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4572000" cy="18288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02920" y="1252728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Inicio()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3090672"/>
            <a:ext cx="4572000" cy="457200"/>
          </a:xfrm>
          <a:prstGeom prst="rect">
            <a:avLst/>
          </a:prstGeom>
          <a:solidFill>
            <a:srgbClr val="D4EDDA"/>
          </a:solidFill>
          <a:ln w="12700">
            <a:solidFill>
              <a:srgbClr val="C3E6C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57200" y="30906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55724"/>
                </a:solidFill>
              </a:rPr>
              <a:t>Vai até main.jsx e troca &lt;App /&gt;  pelo &lt;Inicio / &gt;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703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A"/>
                </a:solidFill>
              </a:rPr>
              <a:t>Vamos </a:t>
            </a:r>
            <a:r>
              <a:rPr lang="en-US" sz="1300" b="1" dirty="0" err="1">
                <a:solidFill>
                  <a:srgbClr val="20232A"/>
                </a:solidFill>
              </a:rPr>
              <a:t>testar</a:t>
            </a:r>
            <a:r>
              <a:rPr lang="en-US" sz="1300" b="1" dirty="0">
                <a:solidFill>
                  <a:srgbClr val="20232A"/>
                </a:solidFill>
              </a:rPr>
              <a:t> no </a:t>
            </a:r>
            <a:r>
              <a:rPr lang="en-US" sz="1300" b="1" dirty="0" err="1">
                <a:solidFill>
                  <a:srgbClr val="20232A"/>
                </a:solidFill>
              </a:rPr>
              <a:t>navegador</a:t>
            </a:r>
            <a:r>
              <a:rPr lang="en-US" sz="1300" b="1" dirty="0">
                <a:solidFill>
                  <a:srgbClr val="20232A"/>
                </a:solidFill>
              </a:rPr>
              <a:t>: </a:t>
            </a:r>
            <a:r>
              <a:rPr lang="en-US" sz="1300" b="1" dirty="0" err="1">
                <a:solidFill>
                  <a:srgbClr val="20232A"/>
                </a:solidFill>
              </a:rPr>
              <a:t>npm</a:t>
            </a:r>
            <a:r>
              <a:rPr lang="en-US" sz="1300" b="1" dirty="0">
                <a:solidFill>
                  <a:srgbClr val="20232A"/>
                </a:solidFill>
              </a:rPr>
              <a:t> run dev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069080"/>
            <a:ext cx="4572000" cy="118872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02920" y="41605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Abre em: http://localhost:5173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12080" y="8046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A"/>
                </a:solidFill>
              </a:rPr>
              <a:t>Como tudo se conecta: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12080" y="123444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349240" y="1289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32A"/>
                </a:solidFill>
              </a:rPr>
              <a:t>📄  index.html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49240" y="15727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Tem o &lt;div id=root&gt; onde tudo vai aparecer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12080" y="219456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349240" y="22494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32A"/>
                </a:solidFill>
              </a:rPr>
              <a:t>⚡  main.jsx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49240" y="25328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Ponto de entrada — conecta o React ao HTML e carrega o CSS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12080" y="315468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349240" y="32095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32A"/>
                </a:solidFill>
              </a:rPr>
              <a:t>🛡️  StrictMode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34930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Envolve o app para mostrar alertas de problemas no console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12080" y="411480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349240" y="41696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32A"/>
                </a:solidFill>
              </a:rPr>
              <a:t>🏠  </a:t>
            </a:r>
            <a:r>
              <a:rPr lang="en-US" sz="1200" b="1" dirty="0" err="1">
                <a:solidFill>
                  <a:srgbClr val="20232A"/>
                </a:solidFill>
              </a:rPr>
              <a:t>Inicio.jsx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445312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Primeiro componente — a 'pagina' da nossa aplicacao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65760" y="109728"/>
            <a:ext cx="1005840" cy="457200"/>
          </a:xfrm>
          <a:prstGeom prst="rect">
            <a:avLst/>
          </a:prstGeom>
          <a:solidFill>
            <a:srgbClr val="CB356B"/>
          </a:solidFill>
          <a:ln w="12700">
            <a:solidFill>
              <a:srgbClr val="CB35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Lesson 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0876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1DAFB"/>
                </a:solidFill>
              </a:rPr>
              <a:t>Componente Título com Styled Components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src/components/Titulo.jsx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61288"/>
            <a:ext cx="4572000" cy="443484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94360" y="1252728"/>
            <a:ext cx="42976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styled from "styled-components"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ModeloTitulo = styled.div`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linear-gradient(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45deg, #cb356b, #bd3f32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white;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32px;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TituloNome = styled.div`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2rem;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margin-top: 96px;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TituloData = styled.div`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1.2rem;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margin-top: 8px;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Titulo({ nome })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&lt;ModeloTitulo&gt;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&lt;TituloNome&gt;{ nome }&lt;/TituloNome&gt;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&lt;TituloData&gt;{ dataFinal }&lt;/TituloData&gt;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&lt;/ModeloTitulo&gt;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03520" y="822960"/>
            <a:ext cx="3474720" cy="1645920"/>
          </a:xfrm>
          <a:prstGeom prst="rect">
            <a:avLst/>
          </a:prstGeom>
          <a:solidFill>
            <a:srgbClr val="CB356B"/>
          </a:solidFill>
          <a:ln w="12700">
            <a:solidFill>
              <a:srgbClr val="CB35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400800" y="822960"/>
            <a:ext cx="2377440" cy="1645920"/>
          </a:xfrm>
          <a:prstGeom prst="rect">
            <a:avLst/>
          </a:prstGeom>
          <a:solidFill>
            <a:srgbClr val="BD3F32">
              <a:alpha val="50000"/>
            </a:srgbClr>
          </a:solidFill>
          <a:ln w="12700">
            <a:solidFill>
              <a:srgbClr val="BD3F3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394960" y="914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Velejando com o React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94960" y="14447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sexta-feira, 5 de agosto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0" y="2542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F6E"/>
                </a:solidFill>
              </a:rPr>
              <a:t>Prévia visual 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0" y="2880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32A"/>
                </a:solidFill>
              </a:rPr>
              <a:t>O que é Styled Components?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0" y="3246120"/>
            <a:ext cx="3474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440680" y="32461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0232A"/>
                </a:solidFill>
              </a:rPr>
              <a:t>✍️  CSS escrito dentro do JavaScript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0" y="3685032"/>
            <a:ext cx="3474720" cy="365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440680" y="368503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0232A"/>
                </a:solidFill>
              </a:rPr>
              <a:t>🎯  Cada componente tem seu próprio estilo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0" y="4123944"/>
            <a:ext cx="3474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440680" y="412394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0232A"/>
                </a:solidFill>
              </a:rPr>
              <a:t>💅  styled.div`...` cria um componente estilizado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03520" y="4562856"/>
            <a:ext cx="3474720" cy="365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440680" y="456285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0232A"/>
                </a:solidFill>
              </a:rPr>
              <a:t>🌈  linear-gradient() faz o degradê de cores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65760" y="109728"/>
            <a:ext cx="1005840" cy="457200"/>
          </a:xfrm>
          <a:prstGeom prst="rect">
            <a:avLst/>
          </a:prstGeom>
          <a:solidFill>
            <a:srgbClr val="CB356B"/>
          </a:solidFill>
          <a:ln w="12700">
            <a:solidFill>
              <a:srgbClr val="CB35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Lesson 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0876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1DAFB"/>
                </a:solidFill>
              </a:rPr>
              <a:t>Formatando a Data com JavaScript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4572000" cy="420624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94360" y="896112"/>
            <a:ext cx="4297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Dentro de Titulo.jsx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dataHoje = new Date()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Set Aug 05 2022 16:00:00 GMT-0300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dataFormato =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weekday: "long",   // "sexta-feira"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day: "numeric",    // "5"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month: "long"      // "agosto"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dataFinal = dataHoje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.toLocaleDateString("pt-br", dataFormato)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"sexta-feira, 5 de agosto"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retorno do componente: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&lt;ModeloTitulo&gt;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&lt;TituloNome&gt;{nome}&lt;/TituloNome&gt;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&lt;TituloData&gt;{dataFinal}&lt;/TituloData&gt;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&lt;/ModeloTitulo&gt;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0" y="8046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A"/>
                </a:solidFill>
              </a:rPr>
              <a:t>Como a data é transformada: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0" y="1261872"/>
            <a:ext cx="3566160" cy="777240"/>
          </a:xfrm>
          <a:prstGeom prst="rect">
            <a:avLst/>
          </a:prstGeom>
          <a:solidFill>
            <a:srgbClr val="FFF3C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440680" y="1353312"/>
            <a:ext cx="365760" cy="365760"/>
          </a:xfrm>
          <a:prstGeom prst="ellipse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40680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97880" y="12984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Date()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97880" y="15910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→ Set Aug 05 2022...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0" y="2176272"/>
            <a:ext cx="3566160" cy="777240"/>
          </a:xfrm>
          <a:prstGeom prst="rect">
            <a:avLst/>
          </a:prstGeom>
          <a:solidFill>
            <a:srgbClr val="D1ECF1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5440680" y="2267712"/>
            <a:ext cx="365760" cy="365760"/>
          </a:xfrm>
          <a:prstGeom prst="ellipse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440680" y="2267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97880" y="22128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dataFormato = {...}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97880" y="25054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→ Define o formato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0" y="3090672"/>
            <a:ext cx="3566160" cy="777240"/>
          </a:xfrm>
          <a:prstGeom prst="rect">
            <a:avLst/>
          </a:prstGeom>
          <a:solidFill>
            <a:srgbClr val="D4EDD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5440680" y="3182112"/>
            <a:ext cx="365760" cy="365760"/>
          </a:xfrm>
          <a:prstGeom prst="ellipse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440680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97880" y="31272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toLocaleDateString()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97880" y="34198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→ sexta-feira, 5 de agosto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0" y="4069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32A"/>
                </a:solidFill>
              </a:rPr>
              <a:t>No </a:t>
            </a:r>
            <a:r>
              <a:rPr lang="en-US" sz="1100" b="1" dirty="0" err="1">
                <a:solidFill>
                  <a:srgbClr val="20232A"/>
                </a:solidFill>
              </a:rPr>
              <a:t>Inicio.jsx</a:t>
            </a:r>
            <a:r>
              <a:rPr lang="en-US" sz="1100" b="1" dirty="0">
                <a:solidFill>
                  <a:srgbClr val="20232A"/>
                </a:solidFill>
              </a:rPr>
              <a:t>, use assim: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0" y="4389120"/>
            <a:ext cx="3566160" cy="41148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440680" y="44805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&lt;Titulo nome="Velejando com o React"/&gt;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555E4A-C135-A656-2A54-892BB03A7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847CCE0-37DD-3E5B-4F30-EA9C2B395DE6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C53A907-2ED6-269E-9EFC-5257B50E0D25}"/>
              </a:ext>
            </a:extLst>
          </p:cNvPr>
          <p:cNvSpPr/>
          <p:nvPr/>
        </p:nvSpPr>
        <p:spPr>
          <a:xfrm>
            <a:off x="365760" y="109728"/>
            <a:ext cx="1005840" cy="457200"/>
          </a:xfrm>
          <a:prstGeom prst="rect">
            <a:avLst/>
          </a:prstGeom>
          <a:solidFill>
            <a:srgbClr val="CB356B"/>
          </a:solidFill>
          <a:ln w="12700">
            <a:solidFill>
              <a:srgbClr val="CB35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73422ED-9346-FA72-8F4C-9F4F75631774}"/>
              </a:ext>
            </a:extLst>
          </p:cNvPr>
          <p:cNvSpPr/>
          <p:nvPr/>
        </p:nvSpPr>
        <p:spPr>
          <a:xfrm>
            <a:off x="365760" y="1097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Lesson 05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3AAFBB0-38DC-4316-E1D0-CB268E4BC08E}"/>
              </a:ext>
            </a:extLst>
          </p:cNvPr>
          <p:cNvSpPr/>
          <p:nvPr/>
        </p:nvSpPr>
        <p:spPr>
          <a:xfrm>
            <a:off x="150876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61DAFB"/>
                </a:solidFill>
              </a:rPr>
              <a:t>Inicio.jsx</a:t>
            </a:r>
            <a:endParaRPr lang="en-US" sz="1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7033D90-9216-0E80-EB91-53981B39DE57}"/>
              </a:ext>
            </a:extLst>
          </p:cNvPr>
          <p:cNvSpPr/>
          <p:nvPr/>
        </p:nvSpPr>
        <p:spPr>
          <a:xfrm>
            <a:off x="457200" y="804672"/>
            <a:ext cx="4572000" cy="420624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97E9854-FF27-4F49-83EE-98F6E37377AB}"/>
              </a:ext>
            </a:extLst>
          </p:cNvPr>
          <p:cNvSpPr/>
          <p:nvPr/>
        </p:nvSpPr>
        <p:spPr>
          <a:xfrm>
            <a:off x="594360" y="896112"/>
            <a:ext cx="4297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200" dirty="0" err="1">
                <a:solidFill>
                  <a:srgbClr val="CDD6F4"/>
                </a:solidFill>
                <a:latin typeface="Consolas" pitchFamily="34" charset="0"/>
              </a:rPr>
              <a:t>import</a:t>
            </a:r>
            <a:r>
              <a:rPr lang="pt-BR" sz="1200" dirty="0">
                <a:solidFill>
                  <a:srgbClr val="CDD6F4"/>
                </a:solidFill>
                <a:latin typeface="Consolas" pitchFamily="34" charset="0"/>
              </a:rPr>
              <a:t> { Titulo } </a:t>
            </a:r>
            <a:r>
              <a:rPr lang="pt-BR" sz="1200" dirty="0" err="1">
                <a:solidFill>
                  <a:srgbClr val="CDD6F4"/>
                </a:solidFill>
                <a:latin typeface="Consolas" pitchFamily="34" charset="0"/>
              </a:rPr>
              <a:t>from</a:t>
            </a:r>
            <a:r>
              <a:rPr lang="pt-BR" sz="1200" dirty="0">
                <a:solidFill>
                  <a:srgbClr val="CDD6F4"/>
                </a:solidFill>
                <a:latin typeface="Consolas" pitchFamily="34" charset="0"/>
              </a:rPr>
              <a:t> "./componentes/Titulo" </a:t>
            </a:r>
          </a:p>
          <a:p>
            <a:r>
              <a:rPr lang="pt-BR" sz="1200" dirty="0" err="1">
                <a:solidFill>
                  <a:srgbClr val="CDD6F4"/>
                </a:solidFill>
                <a:latin typeface="Consolas" pitchFamily="34" charset="0"/>
              </a:rPr>
              <a:t>import</a:t>
            </a:r>
            <a:r>
              <a:rPr lang="pt-BR" sz="1200" dirty="0">
                <a:solidFill>
                  <a:srgbClr val="CDD6F4"/>
                </a:solidFill>
                <a:latin typeface="Consolas" pitchFamily="34" charset="0"/>
              </a:rPr>
              <a:t> { Campo } </a:t>
            </a:r>
            <a:r>
              <a:rPr lang="pt-BR" sz="1200" dirty="0" err="1">
                <a:solidFill>
                  <a:srgbClr val="CDD6F4"/>
                </a:solidFill>
                <a:latin typeface="Consolas" pitchFamily="34" charset="0"/>
              </a:rPr>
              <a:t>from</a:t>
            </a:r>
            <a:r>
              <a:rPr lang="pt-BR" sz="1200" dirty="0">
                <a:solidFill>
                  <a:srgbClr val="CDD6F4"/>
                </a:solidFill>
                <a:latin typeface="Consolas" pitchFamily="34" charset="0"/>
              </a:rPr>
              <a:t> "./componentes/Campo" </a:t>
            </a:r>
          </a:p>
          <a:p>
            <a:endParaRPr lang="pt-BR" sz="1200" dirty="0">
              <a:solidFill>
                <a:srgbClr val="CDD6F4"/>
              </a:solidFill>
              <a:latin typeface="Consolas" pitchFamily="34" charset="0"/>
            </a:endParaRPr>
          </a:p>
          <a:p>
            <a:endParaRPr lang="pt-BR" sz="1200" dirty="0">
              <a:solidFill>
                <a:srgbClr val="CDD6F4"/>
              </a:solidFill>
              <a:latin typeface="Consolas" pitchFamily="34" charset="0"/>
            </a:endParaRPr>
          </a:p>
          <a:p>
            <a:r>
              <a:rPr lang="pt-BR" sz="1200" dirty="0" err="1">
                <a:solidFill>
                  <a:srgbClr val="CDD6F4"/>
                </a:solidFill>
                <a:latin typeface="Consolas" pitchFamily="34" charset="0"/>
              </a:rPr>
              <a:t>export</a:t>
            </a:r>
            <a:r>
              <a:rPr lang="pt-BR" sz="1200" dirty="0">
                <a:solidFill>
                  <a:srgbClr val="CDD6F4"/>
                </a:solidFill>
                <a:latin typeface="Consolas" pitchFamily="34" charset="0"/>
              </a:rPr>
              <a:t> </a:t>
            </a:r>
            <a:r>
              <a:rPr lang="pt-BR" sz="1200" dirty="0" err="1">
                <a:solidFill>
                  <a:srgbClr val="CDD6F4"/>
                </a:solidFill>
                <a:latin typeface="Consolas" pitchFamily="34" charset="0"/>
              </a:rPr>
              <a:t>function</a:t>
            </a:r>
            <a:r>
              <a:rPr lang="pt-BR" sz="1200" dirty="0">
                <a:solidFill>
                  <a:srgbClr val="CDD6F4"/>
                </a:solidFill>
                <a:latin typeface="Consolas" pitchFamily="34" charset="0"/>
              </a:rPr>
              <a:t> Inicio() {</a:t>
            </a:r>
          </a:p>
          <a:p>
            <a:r>
              <a:rPr lang="pt-BR" sz="1200" dirty="0">
                <a:solidFill>
                  <a:srgbClr val="CDD6F4"/>
                </a:solidFill>
                <a:latin typeface="Consolas" pitchFamily="34" charset="0"/>
              </a:rPr>
              <a:t> </a:t>
            </a:r>
            <a:r>
              <a:rPr lang="pt-BR" sz="1200" dirty="0" err="1">
                <a:solidFill>
                  <a:srgbClr val="CDD6F4"/>
                </a:solidFill>
                <a:latin typeface="Consolas" pitchFamily="34" charset="0"/>
              </a:rPr>
              <a:t>return</a:t>
            </a:r>
            <a:r>
              <a:rPr lang="pt-BR" sz="1200" dirty="0">
                <a:solidFill>
                  <a:srgbClr val="CDD6F4"/>
                </a:solidFill>
                <a:latin typeface="Consolas" pitchFamily="34" charset="0"/>
              </a:rPr>
              <a:t> (</a:t>
            </a:r>
          </a:p>
          <a:p>
            <a:r>
              <a:rPr lang="pt-BR" sz="1200" dirty="0">
                <a:solidFill>
                  <a:srgbClr val="CDD6F4"/>
                </a:solidFill>
                <a:latin typeface="Consolas" pitchFamily="34" charset="0"/>
              </a:rPr>
              <a:t>  &lt;&gt; </a:t>
            </a:r>
          </a:p>
          <a:p>
            <a:r>
              <a:rPr lang="pt-BR" sz="1200" dirty="0">
                <a:solidFill>
                  <a:srgbClr val="CDD6F4"/>
                </a:solidFill>
                <a:latin typeface="Consolas" pitchFamily="34" charset="0"/>
              </a:rPr>
              <a:t>    &lt;Titulo nome="Velejando com o </a:t>
            </a:r>
            <a:r>
              <a:rPr lang="pt-BR" sz="1200" dirty="0" err="1">
                <a:solidFill>
                  <a:srgbClr val="CDD6F4"/>
                </a:solidFill>
                <a:latin typeface="Consolas" pitchFamily="34" charset="0"/>
              </a:rPr>
              <a:t>React</a:t>
            </a:r>
            <a:r>
              <a:rPr lang="pt-BR" sz="1200" dirty="0">
                <a:solidFill>
                  <a:srgbClr val="CDD6F4"/>
                </a:solidFill>
                <a:latin typeface="Consolas" pitchFamily="34" charset="0"/>
              </a:rPr>
              <a:t>" /&gt;</a:t>
            </a:r>
          </a:p>
          <a:p>
            <a:r>
              <a:rPr lang="pt-BR" sz="1200" dirty="0">
                <a:solidFill>
                  <a:srgbClr val="CDD6F4"/>
                </a:solidFill>
                <a:latin typeface="Consolas" pitchFamily="34" charset="0"/>
              </a:rPr>
              <a:t>  &lt;/&gt; </a:t>
            </a:r>
          </a:p>
          <a:p>
            <a:r>
              <a:rPr lang="pt-BR" sz="1200" dirty="0">
                <a:solidFill>
                  <a:srgbClr val="CDD6F4"/>
                </a:solidFill>
                <a:latin typeface="Consolas" pitchFamily="34" charset="0"/>
              </a:rPr>
              <a:t> )</a:t>
            </a:r>
          </a:p>
          <a:p>
            <a:r>
              <a:rPr lang="pt-BR" sz="1200" dirty="0">
                <a:solidFill>
                  <a:srgbClr val="CDD6F4"/>
                </a:solidFill>
                <a:latin typeface="Consolas" pitchFamily="34" charset="0"/>
              </a:rPr>
              <a:t>}</a:t>
            </a:r>
            <a:endParaRPr lang="en-US" sz="1200" dirty="0">
              <a:solidFill>
                <a:srgbClr val="CDD6F4"/>
              </a:solidFill>
              <a:latin typeface="Consolas" pitchFamily="34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6DD0FE1-47CC-8AF4-DB31-4970D14D8861}"/>
              </a:ext>
            </a:extLst>
          </p:cNvPr>
          <p:cNvSpPr/>
          <p:nvPr/>
        </p:nvSpPr>
        <p:spPr>
          <a:xfrm>
            <a:off x="5303520" y="8046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A"/>
                </a:solidFill>
              </a:rPr>
              <a:t>Como a data é transformada:</a:t>
            </a:r>
            <a:endParaRPr lang="en-US" sz="13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1D1F457-E5D1-A652-397B-0DDE4A5DED89}"/>
              </a:ext>
            </a:extLst>
          </p:cNvPr>
          <p:cNvSpPr/>
          <p:nvPr/>
        </p:nvSpPr>
        <p:spPr>
          <a:xfrm>
            <a:off x="5303520" y="1261872"/>
            <a:ext cx="3566160" cy="777240"/>
          </a:xfrm>
          <a:prstGeom prst="rect">
            <a:avLst/>
          </a:prstGeom>
          <a:solidFill>
            <a:srgbClr val="FFF3C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8AB11EE-4EFE-8402-04B1-9B61D9BEEFB6}"/>
              </a:ext>
            </a:extLst>
          </p:cNvPr>
          <p:cNvSpPr/>
          <p:nvPr/>
        </p:nvSpPr>
        <p:spPr>
          <a:xfrm>
            <a:off x="5440680" y="1353312"/>
            <a:ext cx="365760" cy="365760"/>
          </a:xfrm>
          <a:prstGeom prst="ellipse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EAC39CC-EB0B-5466-A37F-3C27FA355AB4}"/>
              </a:ext>
            </a:extLst>
          </p:cNvPr>
          <p:cNvSpPr/>
          <p:nvPr/>
        </p:nvSpPr>
        <p:spPr>
          <a:xfrm>
            <a:off x="5440680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3FDEF28-51C1-C1CD-1124-E508BFBE50A8}"/>
              </a:ext>
            </a:extLst>
          </p:cNvPr>
          <p:cNvSpPr/>
          <p:nvPr/>
        </p:nvSpPr>
        <p:spPr>
          <a:xfrm>
            <a:off x="5897880" y="12984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100" b="1" dirty="0">
                <a:solidFill>
                  <a:srgbClr val="20232A"/>
                </a:solidFill>
                <a:latin typeface="Consolas" pitchFamily="34" charset="0"/>
              </a:rPr>
              <a:t>1. O Componente (&lt;Titulo ... /&gt;)</a:t>
            </a:r>
            <a:endParaRPr lang="en-US" sz="1100" b="1" dirty="0">
              <a:solidFill>
                <a:srgbClr val="20232A"/>
              </a:solidFill>
              <a:latin typeface="Consolas" pitchFamily="34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E5C6735-1286-E691-2FCF-22CD585BAC1C}"/>
              </a:ext>
            </a:extLst>
          </p:cNvPr>
          <p:cNvSpPr/>
          <p:nvPr/>
        </p:nvSpPr>
        <p:spPr>
          <a:xfrm>
            <a:off x="5897880" y="15910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555F6E"/>
                </a:solidFill>
              </a:rPr>
              <a:t>→ </a:t>
            </a:r>
            <a:r>
              <a:rPr lang="pt-BR" sz="1000" dirty="0">
                <a:solidFill>
                  <a:srgbClr val="555F6E"/>
                </a:solidFill>
              </a:rPr>
              <a:t>Em vez de usar uma </a:t>
            </a:r>
            <a:r>
              <a:rPr lang="pt-BR" sz="1000" dirty="0" err="1">
                <a:solidFill>
                  <a:srgbClr val="555F6E"/>
                </a:solidFill>
              </a:rPr>
              <a:t>tag</a:t>
            </a:r>
            <a:r>
              <a:rPr lang="pt-BR" sz="1000" dirty="0">
                <a:solidFill>
                  <a:srgbClr val="555F6E"/>
                </a:solidFill>
              </a:rPr>
              <a:t> HTML padrão (como &lt;h1&gt; ou &lt;</a:t>
            </a:r>
            <a:r>
              <a:rPr lang="pt-BR" sz="1000" dirty="0" err="1">
                <a:solidFill>
                  <a:srgbClr val="555F6E"/>
                </a:solidFill>
              </a:rPr>
              <a:t>div</a:t>
            </a:r>
            <a:r>
              <a:rPr lang="pt-BR" sz="1000" dirty="0">
                <a:solidFill>
                  <a:srgbClr val="555F6E"/>
                </a:solidFill>
              </a:rPr>
              <a:t>&gt;), você está chamando um componente chamado Titulo.</a:t>
            </a:r>
            <a:endParaRPr lang="en-US" sz="1000" dirty="0">
              <a:solidFill>
                <a:srgbClr val="555F6E"/>
              </a:solidFill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F2C501A-60D0-CD05-FE7A-4F465DC664F4}"/>
              </a:ext>
            </a:extLst>
          </p:cNvPr>
          <p:cNvSpPr/>
          <p:nvPr/>
        </p:nvSpPr>
        <p:spPr>
          <a:xfrm>
            <a:off x="5303520" y="2176272"/>
            <a:ext cx="3566160" cy="777240"/>
          </a:xfrm>
          <a:prstGeom prst="rect">
            <a:avLst/>
          </a:prstGeom>
          <a:solidFill>
            <a:srgbClr val="D1ECF1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1DFFD6C-6FE4-B08A-4748-D4D8BFA26B05}"/>
              </a:ext>
            </a:extLst>
          </p:cNvPr>
          <p:cNvSpPr/>
          <p:nvPr/>
        </p:nvSpPr>
        <p:spPr>
          <a:xfrm>
            <a:off x="5440680" y="2267712"/>
            <a:ext cx="365760" cy="365760"/>
          </a:xfrm>
          <a:prstGeom prst="ellipse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42CCEFF-6BD9-9B05-2798-BECD4897E84E}"/>
              </a:ext>
            </a:extLst>
          </p:cNvPr>
          <p:cNvSpPr/>
          <p:nvPr/>
        </p:nvSpPr>
        <p:spPr>
          <a:xfrm>
            <a:off x="5440680" y="2267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2CF11EF-2D41-5074-5058-F1F501BF7AF4}"/>
              </a:ext>
            </a:extLst>
          </p:cNvPr>
          <p:cNvSpPr/>
          <p:nvPr/>
        </p:nvSpPr>
        <p:spPr>
          <a:xfrm>
            <a:off x="5897880" y="22128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100" b="1" dirty="0">
                <a:solidFill>
                  <a:srgbClr val="20232A"/>
                </a:solidFill>
                <a:latin typeface="Consolas" pitchFamily="34" charset="0"/>
              </a:rPr>
              <a:t>A Propriedade ou Prop (nome=)</a:t>
            </a:r>
            <a:endParaRPr lang="en-US" sz="1100" b="1" dirty="0">
              <a:solidFill>
                <a:srgbClr val="20232A"/>
              </a:solidFill>
              <a:latin typeface="Consolas" pitchFamily="34" charset="0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334D09F-57F0-FCC4-0EC7-1EFEB2B6259A}"/>
              </a:ext>
            </a:extLst>
          </p:cNvPr>
          <p:cNvSpPr/>
          <p:nvPr/>
        </p:nvSpPr>
        <p:spPr>
          <a:xfrm>
            <a:off x="5897880" y="25054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555F6E"/>
                </a:solidFill>
              </a:rPr>
              <a:t>→ </a:t>
            </a:r>
            <a:r>
              <a:rPr lang="pt-BR" sz="1000" dirty="0">
                <a:solidFill>
                  <a:srgbClr val="555F6E"/>
                </a:solidFill>
              </a:rPr>
              <a:t>O termo </a:t>
            </a:r>
            <a:r>
              <a:rPr lang="pt-BR" sz="1000" b="1" dirty="0">
                <a:solidFill>
                  <a:srgbClr val="555F6E"/>
                </a:solidFill>
              </a:rPr>
              <a:t>nome</a:t>
            </a:r>
            <a:r>
              <a:rPr lang="pt-BR" sz="1000" dirty="0">
                <a:solidFill>
                  <a:srgbClr val="555F6E"/>
                </a:solidFill>
              </a:rPr>
              <a:t> é o que chamamos de Prop (abreviação de </a:t>
            </a:r>
            <a:r>
              <a:rPr lang="pt-BR" sz="1000" dirty="0" err="1">
                <a:solidFill>
                  <a:srgbClr val="555F6E"/>
                </a:solidFill>
              </a:rPr>
              <a:t>property</a:t>
            </a:r>
            <a:r>
              <a:rPr lang="pt-BR" sz="1000" dirty="0">
                <a:solidFill>
                  <a:srgbClr val="555F6E"/>
                </a:solidFill>
              </a:rPr>
              <a:t>). Pense nisso como o argumento de uma função</a:t>
            </a:r>
            <a:r>
              <a:rPr lang="pt-BR" sz="1000" dirty="0"/>
              <a:t>.</a:t>
            </a:r>
            <a:endParaRPr lang="en-US" sz="10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C4A625E-96A2-50F3-C04E-E9AF14BBA7D4}"/>
              </a:ext>
            </a:extLst>
          </p:cNvPr>
          <p:cNvSpPr/>
          <p:nvPr/>
        </p:nvSpPr>
        <p:spPr>
          <a:xfrm>
            <a:off x="5303520" y="3090672"/>
            <a:ext cx="3566160" cy="777240"/>
          </a:xfrm>
          <a:prstGeom prst="rect">
            <a:avLst/>
          </a:prstGeom>
          <a:solidFill>
            <a:srgbClr val="D4EDD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269528E-729B-C884-B363-E667C1F54FC2}"/>
              </a:ext>
            </a:extLst>
          </p:cNvPr>
          <p:cNvSpPr/>
          <p:nvPr/>
        </p:nvSpPr>
        <p:spPr>
          <a:xfrm>
            <a:off x="5440680" y="3182112"/>
            <a:ext cx="365760" cy="365760"/>
          </a:xfrm>
          <a:prstGeom prst="ellipse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F5E49DF-9738-A3C8-AAC9-AE2658ACD83B}"/>
              </a:ext>
            </a:extLst>
          </p:cNvPr>
          <p:cNvSpPr/>
          <p:nvPr/>
        </p:nvSpPr>
        <p:spPr>
          <a:xfrm>
            <a:off x="5440680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2AA56A4-9582-C135-4CF0-641E09DB1BEC}"/>
              </a:ext>
            </a:extLst>
          </p:cNvPr>
          <p:cNvSpPr/>
          <p:nvPr/>
        </p:nvSpPr>
        <p:spPr>
          <a:xfrm>
            <a:off x="5897880" y="31272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100" b="1" dirty="0">
                <a:solidFill>
                  <a:srgbClr val="20232A"/>
                </a:solidFill>
                <a:latin typeface="Consolas" pitchFamily="34" charset="0"/>
              </a:rPr>
              <a:t>O Valor ("Velejando com o </a:t>
            </a:r>
            <a:r>
              <a:rPr lang="pt-BR" sz="1100" b="1" dirty="0" err="1">
                <a:solidFill>
                  <a:srgbClr val="20232A"/>
                </a:solidFill>
                <a:latin typeface="Consolas" pitchFamily="34" charset="0"/>
              </a:rPr>
              <a:t>React</a:t>
            </a:r>
            <a:r>
              <a:rPr lang="pt-BR" sz="1100" b="1" dirty="0">
                <a:solidFill>
                  <a:srgbClr val="20232A"/>
                </a:solidFill>
                <a:latin typeface="Consolas" pitchFamily="34" charset="0"/>
              </a:rPr>
              <a:t>")</a:t>
            </a:r>
            <a:endParaRPr lang="en-US" sz="1100" b="1" dirty="0">
              <a:solidFill>
                <a:srgbClr val="20232A"/>
              </a:solidFill>
              <a:latin typeface="Consolas" pitchFamily="34" charset="0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2569D1B-517A-D360-A513-CC8430BF733E}"/>
              </a:ext>
            </a:extLst>
          </p:cNvPr>
          <p:cNvSpPr/>
          <p:nvPr/>
        </p:nvSpPr>
        <p:spPr>
          <a:xfrm>
            <a:off x="5897880" y="34198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555F6E"/>
                </a:solidFill>
              </a:rPr>
              <a:t>→ </a:t>
            </a:r>
            <a:r>
              <a:rPr lang="pt-BR" sz="1000" dirty="0">
                <a:solidFill>
                  <a:srgbClr val="555F6E"/>
                </a:solidFill>
              </a:rPr>
              <a:t>Este é o conteúdo que você está enviando. O componente </a:t>
            </a:r>
            <a:r>
              <a:rPr lang="pt-BR" sz="1000" b="1" dirty="0">
                <a:solidFill>
                  <a:srgbClr val="555F6E"/>
                </a:solidFill>
              </a:rPr>
              <a:t>Titulo</a:t>
            </a:r>
            <a:endParaRPr lang="en-US" sz="1000" b="1" dirty="0">
              <a:solidFill>
                <a:srgbClr val="555F6E"/>
              </a:solidFill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D03CD36-D297-D667-620D-821C389F5089}"/>
              </a:ext>
            </a:extLst>
          </p:cNvPr>
          <p:cNvSpPr/>
          <p:nvPr/>
        </p:nvSpPr>
        <p:spPr>
          <a:xfrm>
            <a:off x="5303520" y="4069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32A"/>
                </a:solidFill>
              </a:rPr>
              <a:t>No </a:t>
            </a:r>
            <a:r>
              <a:rPr lang="en-US" sz="1100" b="1" dirty="0" err="1">
                <a:solidFill>
                  <a:srgbClr val="20232A"/>
                </a:solidFill>
              </a:rPr>
              <a:t>Inicio.jsx</a:t>
            </a:r>
            <a:r>
              <a:rPr lang="en-US" sz="1100" b="1" dirty="0">
                <a:solidFill>
                  <a:srgbClr val="20232A"/>
                </a:solidFill>
              </a:rPr>
              <a:t>, use assim:</a:t>
            </a:r>
            <a:endParaRPr lang="en-US" sz="11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30DE395-0563-0AD5-1D08-27B3CAA38F76}"/>
              </a:ext>
            </a:extLst>
          </p:cNvPr>
          <p:cNvSpPr/>
          <p:nvPr/>
        </p:nvSpPr>
        <p:spPr>
          <a:xfrm>
            <a:off x="5303520" y="4389120"/>
            <a:ext cx="3566160" cy="41148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C06F581-146E-BD04-6C89-3A8D54A7FC15}"/>
              </a:ext>
            </a:extLst>
          </p:cNvPr>
          <p:cNvSpPr/>
          <p:nvPr/>
        </p:nvSpPr>
        <p:spPr>
          <a:xfrm>
            <a:off x="5440680" y="44805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&lt;Titulo nome="Velejando com o React"/&gt;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45083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65760" y="109728"/>
            <a:ext cx="1005840" cy="457200"/>
          </a:xfrm>
          <a:prstGeom prst="rect">
            <a:avLst/>
          </a:prstGeom>
          <a:solidFill>
            <a:srgbClr val="CB356B"/>
          </a:solidFill>
          <a:ln w="12700">
            <a:solidFill>
              <a:srgbClr val="CB35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Lesson 06-07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0876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61DAFB"/>
                </a:solidFill>
              </a:rPr>
              <a:t>Componente</a:t>
            </a:r>
            <a:r>
              <a:rPr lang="en-US" sz="1800" b="1" dirty="0">
                <a:solidFill>
                  <a:srgbClr val="61DAFB"/>
                </a:solidFill>
              </a:rPr>
              <a:t> Campo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3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Campo.jsx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61288"/>
            <a:ext cx="3931920" cy="183591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94360" y="1252728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ModeloCampo = styled.div`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white;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32px 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16px;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Campo({ children })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&lt;ModeloCampo&gt;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{children}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&lt;/ModeloCampo&gt;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8046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32A"/>
                </a:solidFill>
              </a:rPr>
              <a:t>Usando no </a:t>
            </a:r>
            <a:r>
              <a:rPr lang="en-US" sz="1200" b="1" dirty="0" err="1">
                <a:solidFill>
                  <a:srgbClr val="20232A"/>
                </a:solidFill>
              </a:rPr>
              <a:t>Inicio.jsx</a:t>
            </a:r>
            <a:r>
              <a:rPr lang="en-US" sz="1200" b="1" dirty="0">
                <a:solidFill>
                  <a:srgbClr val="20232A"/>
                </a:solidFill>
              </a:rPr>
              <a:t>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161288"/>
            <a:ext cx="4206240" cy="22860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800600" y="1252728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000" dirty="0" err="1">
                <a:solidFill>
                  <a:srgbClr val="CDD6F4"/>
                </a:solidFill>
                <a:latin typeface="Consolas" pitchFamily="34" charset="0"/>
              </a:rPr>
              <a:t>import</a:t>
            </a:r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 { Titulo } </a:t>
            </a:r>
            <a:r>
              <a:rPr lang="pt-BR" sz="1000" dirty="0" err="1">
                <a:solidFill>
                  <a:srgbClr val="CDD6F4"/>
                </a:solidFill>
                <a:latin typeface="Consolas" pitchFamily="34" charset="0"/>
              </a:rPr>
              <a:t>from</a:t>
            </a:r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 "./componentes/Titulo" </a:t>
            </a:r>
          </a:p>
          <a:p>
            <a:r>
              <a:rPr lang="pt-BR" sz="1000" dirty="0" err="1">
                <a:solidFill>
                  <a:srgbClr val="CDD6F4"/>
                </a:solidFill>
                <a:latin typeface="Consolas" pitchFamily="34" charset="0"/>
              </a:rPr>
              <a:t>import</a:t>
            </a:r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 { Campo } </a:t>
            </a:r>
            <a:r>
              <a:rPr lang="pt-BR" sz="1000" dirty="0" err="1">
                <a:solidFill>
                  <a:srgbClr val="CDD6F4"/>
                </a:solidFill>
                <a:latin typeface="Consolas" pitchFamily="34" charset="0"/>
              </a:rPr>
              <a:t>from</a:t>
            </a:r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 "./componentes/Campo" </a:t>
            </a:r>
          </a:p>
          <a:p>
            <a:endParaRPr lang="pt-BR" sz="1000" dirty="0">
              <a:solidFill>
                <a:srgbClr val="CDD6F4"/>
              </a:solidFill>
              <a:latin typeface="Consolas" pitchFamily="34" charset="0"/>
            </a:endParaRPr>
          </a:p>
          <a:p>
            <a:r>
              <a:rPr lang="pt-BR" sz="1000" dirty="0" err="1">
                <a:solidFill>
                  <a:srgbClr val="CDD6F4"/>
                </a:solidFill>
                <a:latin typeface="Consolas" pitchFamily="34" charset="0"/>
              </a:rPr>
              <a:t>export</a:t>
            </a:r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 </a:t>
            </a:r>
            <a:r>
              <a:rPr lang="pt-BR" sz="1000" dirty="0" err="1">
                <a:solidFill>
                  <a:srgbClr val="CDD6F4"/>
                </a:solidFill>
                <a:latin typeface="Consolas" pitchFamily="34" charset="0"/>
              </a:rPr>
              <a:t>function</a:t>
            </a:r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 Inicio() { </a:t>
            </a:r>
          </a:p>
          <a:p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  </a:t>
            </a:r>
            <a:r>
              <a:rPr lang="pt-BR" sz="1000" dirty="0" err="1">
                <a:solidFill>
                  <a:srgbClr val="CDD6F4"/>
                </a:solidFill>
                <a:latin typeface="Consolas" pitchFamily="34" charset="0"/>
              </a:rPr>
              <a:t>return</a:t>
            </a:r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 ( </a:t>
            </a:r>
          </a:p>
          <a:p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    &lt;&gt; </a:t>
            </a:r>
          </a:p>
          <a:p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      &lt;Titulo nome="Velejando com o </a:t>
            </a:r>
            <a:r>
              <a:rPr lang="pt-BR" sz="1000" dirty="0" err="1">
                <a:solidFill>
                  <a:srgbClr val="CDD6F4"/>
                </a:solidFill>
                <a:latin typeface="Consolas" pitchFamily="34" charset="0"/>
              </a:rPr>
              <a:t>React</a:t>
            </a:r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" /&gt; </a:t>
            </a:r>
          </a:p>
          <a:p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      &lt;Campo id="1"&gt; &lt;/Campo&gt; </a:t>
            </a:r>
          </a:p>
          <a:p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      &lt;Campo id="2"&gt; &lt;/Campo&gt;</a:t>
            </a:r>
          </a:p>
          <a:p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    &lt;/&gt; </a:t>
            </a:r>
          </a:p>
          <a:p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 )</a:t>
            </a:r>
          </a:p>
          <a:p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}</a:t>
            </a:r>
            <a:endParaRPr lang="en-US" sz="1000" dirty="0">
              <a:solidFill>
                <a:srgbClr val="CDD6F4"/>
              </a:solidFill>
              <a:latin typeface="Consolas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1" y="3127248"/>
            <a:ext cx="4206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274321" y="31272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F6E"/>
                </a:solidFill>
              </a:rPr>
              <a:t>Campo (fundo branco, borda suave)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1" y="3721608"/>
            <a:ext cx="4206240" cy="365760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274321" y="37216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0232A"/>
                </a:solidFill>
              </a:rPr>
              <a:t>Conteúdo (fundo cinza, texto centralizado)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4572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555F6E"/>
                </a:solidFill>
              </a:rPr>
              <a:t>💡 children = </a:t>
            </a:r>
            <a:r>
              <a:rPr lang="pt-BR" sz="1000" i="1" dirty="0">
                <a:solidFill>
                  <a:srgbClr val="555F6E"/>
                </a:solidFill>
              </a:rPr>
              <a:t>No </a:t>
            </a:r>
            <a:r>
              <a:rPr lang="pt-BR" sz="1000" i="1" dirty="0" err="1">
                <a:solidFill>
                  <a:srgbClr val="555F6E"/>
                </a:solidFill>
              </a:rPr>
              <a:t>React</a:t>
            </a:r>
            <a:r>
              <a:rPr lang="pt-BR" sz="1000" i="1" dirty="0">
                <a:solidFill>
                  <a:srgbClr val="555F6E"/>
                </a:solidFill>
              </a:rPr>
              <a:t>, </a:t>
            </a:r>
            <a:r>
              <a:rPr lang="pt-BR" sz="1000" i="1" dirty="0" err="1">
                <a:solidFill>
                  <a:srgbClr val="555F6E"/>
                </a:solidFill>
              </a:rPr>
              <a:t>children</a:t>
            </a:r>
            <a:r>
              <a:rPr lang="pt-BR" sz="1000" i="1" dirty="0">
                <a:solidFill>
                  <a:srgbClr val="555F6E"/>
                </a:solidFill>
              </a:rPr>
              <a:t> é uma </a:t>
            </a:r>
            <a:r>
              <a:rPr lang="pt-BR" sz="1000" i="1" dirty="0" err="1">
                <a:solidFill>
                  <a:srgbClr val="555F6E"/>
                </a:solidFill>
              </a:rPr>
              <a:t>prop</a:t>
            </a:r>
            <a:r>
              <a:rPr lang="pt-BR" sz="1000" i="1" dirty="0">
                <a:solidFill>
                  <a:srgbClr val="555F6E"/>
                </a:solidFill>
              </a:rPr>
              <a:t> especial que contém tudo o que estiver entre a </a:t>
            </a:r>
            <a:r>
              <a:rPr lang="pt-BR" sz="1000" i="1" dirty="0" err="1">
                <a:solidFill>
                  <a:srgbClr val="555F6E"/>
                </a:solidFill>
              </a:rPr>
              <a:t>tag</a:t>
            </a:r>
            <a:r>
              <a:rPr lang="pt-BR" sz="1000" i="1" dirty="0">
                <a:solidFill>
                  <a:srgbClr val="555F6E"/>
                </a:solidFill>
              </a:rPr>
              <a:t> de abertura e a </a:t>
            </a:r>
            <a:r>
              <a:rPr lang="pt-BR" sz="1000" i="1" dirty="0" err="1">
                <a:solidFill>
                  <a:srgbClr val="555F6E"/>
                </a:solidFill>
              </a:rPr>
              <a:t>tag</a:t>
            </a:r>
            <a:r>
              <a:rPr lang="pt-BR" sz="1000" i="1" dirty="0">
                <a:solidFill>
                  <a:srgbClr val="555F6E"/>
                </a:solidFill>
              </a:rPr>
              <a:t> de fechamento de um componente.</a:t>
            </a:r>
            <a:endParaRPr lang="en-US" sz="1000" i="1" dirty="0">
              <a:solidFill>
                <a:srgbClr val="555F6E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9F17815E-FC59-5DF5-EFAD-F4181DF66C09}"/>
              </a:ext>
            </a:extLst>
          </p:cNvPr>
          <p:cNvSpPr/>
          <p:nvPr/>
        </p:nvSpPr>
        <p:spPr>
          <a:xfrm>
            <a:off x="5120640" y="341807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9A1A66CE-E191-9D20-E3A6-628BC8CA185E}"/>
              </a:ext>
            </a:extLst>
          </p:cNvPr>
          <p:cNvSpPr/>
          <p:nvPr/>
        </p:nvSpPr>
        <p:spPr>
          <a:xfrm>
            <a:off x="4663440" y="3539998"/>
            <a:ext cx="4206240" cy="914400"/>
          </a:xfrm>
          <a:prstGeom prst="rect">
            <a:avLst/>
          </a:prstGeom>
          <a:solidFill>
            <a:srgbClr val="D1ECF1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8A4B7EDF-E73A-6311-0901-90176F3D91C6}"/>
              </a:ext>
            </a:extLst>
          </p:cNvPr>
          <p:cNvSpPr/>
          <p:nvPr/>
        </p:nvSpPr>
        <p:spPr>
          <a:xfrm>
            <a:off x="4800599" y="3640582"/>
            <a:ext cx="374651" cy="365760"/>
          </a:xfrm>
          <a:prstGeom prst="ellipse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48EB939B-015E-B56C-4178-EB5B1F423A9F}"/>
              </a:ext>
            </a:extLst>
          </p:cNvPr>
          <p:cNvSpPr/>
          <p:nvPr/>
        </p:nvSpPr>
        <p:spPr>
          <a:xfrm>
            <a:off x="4832349" y="3639312"/>
            <a:ext cx="3200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440661CC-4822-32CA-24B7-8EADC2FEDBC8}"/>
              </a:ext>
            </a:extLst>
          </p:cNvPr>
          <p:cNvSpPr/>
          <p:nvPr/>
        </p:nvSpPr>
        <p:spPr>
          <a:xfrm>
            <a:off x="5257800" y="3616198"/>
            <a:ext cx="33434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100" dirty="0"/>
              <a:t>{</a:t>
            </a:r>
            <a:r>
              <a:rPr lang="pt-BR" sz="1100" b="1" dirty="0" err="1">
                <a:solidFill>
                  <a:srgbClr val="20232A"/>
                </a:solidFill>
                <a:latin typeface="Consolas" pitchFamily="34" charset="0"/>
              </a:rPr>
              <a:t>children</a:t>
            </a:r>
            <a:r>
              <a:rPr lang="pt-BR" sz="1100" dirty="0"/>
              <a:t>}</a:t>
            </a:r>
            <a:endParaRPr lang="en-US" sz="1100" b="1" dirty="0">
              <a:solidFill>
                <a:srgbClr val="20232A"/>
              </a:solidFill>
              <a:latin typeface="Consolas" pitchFamily="34" charset="0"/>
            </a:endParaRPr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F204CD3E-C1FC-9AF4-A03B-6E13DA2CA0B6}"/>
              </a:ext>
            </a:extLst>
          </p:cNvPr>
          <p:cNvSpPr/>
          <p:nvPr/>
        </p:nvSpPr>
        <p:spPr>
          <a:xfrm>
            <a:off x="5257800" y="4006342"/>
            <a:ext cx="33434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555F6E"/>
                </a:solidFill>
              </a:rPr>
              <a:t>→ </a:t>
            </a:r>
            <a:r>
              <a:rPr lang="pt-BR" sz="1000" dirty="0">
                <a:solidFill>
                  <a:srgbClr val="555F6E"/>
                </a:solidFill>
              </a:rPr>
              <a:t>É o "espaço reservado". Você está dizendo ao </a:t>
            </a:r>
            <a:r>
              <a:rPr lang="pt-BR" sz="1000" dirty="0" err="1">
                <a:solidFill>
                  <a:srgbClr val="555F6E"/>
                </a:solidFill>
              </a:rPr>
              <a:t>React</a:t>
            </a:r>
            <a:r>
              <a:rPr lang="pt-BR" sz="1000" dirty="0">
                <a:solidFill>
                  <a:srgbClr val="555F6E"/>
                </a:solidFill>
              </a:rPr>
              <a:t>: "Ei, pegue qualquer coisa que o usuário colocar dentro de &lt;Campo&gt; e renderize aqui dentro do </a:t>
            </a:r>
            <a:r>
              <a:rPr lang="pt-BR" sz="1000" dirty="0" err="1">
                <a:solidFill>
                  <a:srgbClr val="555F6E"/>
                </a:solidFill>
              </a:rPr>
              <a:t>ModeloCampo</a:t>
            </a:r>
            <a:r>
              <a:rPr lang="pt-BR" sz="1000" dirty="0">
                <a:solidFill>
                  <a:srgbClr val="555F6E"/>
                </a:solidFill>
              </a:rPr>
              <a:t>".</a:t>
            </a:r>
            <a:endParaRPr lang="en-US" sz="1000" dirty="0">
              <a:solidFill>
                <a:srgbClr val="555F6E"/>
              </a:solidFill>
            </a:endParaRPr>
          </a:p>
        </p:txBody>
      </p:sp>
      <p:sp>
        <p:nvSpPr>
          <p:cNvPr id="41" name="Shape 7">
            <a:extLst>
              <a:ext uri="{FF2B5EF4-FFF2-40B4-BE49-F238E27FC236}">
                <a16:creationId xmlns:a16="http://schemas.microsoft.com/office/drawing/2014/main" id="{C68E5692-4BBC-ACE1-94F8-C1BD85DC9229}"/>
              </a:ext>
            </a:extLst>
          </p:cNvPr>
          <p:cNvSpPr/>
          <p:nvPr/>
        </p:nvSpPr>
        <p:spPr>
          <a:xfrm>
            <a:off x="274321" y="4317238"/>
            <a:ext cx="4206240" cy="457200"/>
          </a:xfrm>
          <a:prstGeom prst="rect">
            <a:avLst/>
          </a:prstGeom>
          <a:solidFill>
            <a:srgbClr val="D4EDDA"/>
          </a:solidFill>
          <a:ln w="12700">
            <a:solidFill>
              <a:srgbClr val="C3E6C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6A5F21A4-3AB6-973C-4101-4265C43E3D2A}"/>
              </a:ext>
            </a:extLst>
          </p:cNvPr>
          <p:cNvSpPr/>
          <p:nvPr/>
        </p:nvSpPr>
        <p:spPr>
          <a:xfrm>
            <a:off x="365761" y="4317238"/>
            <a:ext cx="3799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400" dirty="0">
                <a:solidFill>
                  <a:srgbClr val="155724"/>
                </a:solidFill>
              </a:rPr>
              <a:t>📢</a:t>
            </a:r>
            <a:r>
              <a:rPr lang="en-US" sz="1400" dirty="0">
                <a:solidFill>
                  <a:srgbClr val="155724"/>
                </a:solidFill>
              </a:rPr>
              <a:t>VAMOS VISUALIZAR NO NAVEGADOR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86CEB0-051A-A0F0-CC1C-D8F50F035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5FFEF58-DA83-E25D-903A-E3942BC860D6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3E9BF81-ED33-B121-0608-B76DE69615E3}"/>
              </a:ext>
            </a:extLst>
          </p:cNvPr>
          <p:cNvSpPr/>
          <p:nvPr/>
        </p:nvSpPr>
        <p:spPr>
          <a:xfrm>
            <a:off x="365760" y="109728"/>
            <a:ext cx="1005840" cy="457200"/>
          </a:xfrm>
          <a:prstGeom prst="rect">
            <a:avLst/>
          </a:prstGeom>
          <a:solidFill>
            <a:srgbClr val="CB356B"/>
          </a:solidFill>
          <a:ln w="12700">
            <a:solidFill>
              <a:srgbClr val="CB35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DE0E035-827C-8251-A565-B10153941679}"/>
              </a:ext>
            </a:extLst>
          </p:cNvPr>
          <p:cNvSpPr/>
          <p:nvPr/>
        </p:nvSpPr>
        <p:spPr>
          <a:xfrm>
            <a:off x="365760" y="1097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Lesson 06-07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E9F9187-5A56-EF9B-6AD7-20E8318A6520}"/>
              </a:ext>
            </a:extLst>
          </p:cNvPr>
          <p:cNvSpPr/>
          <p:nvPr/>
        </p:nvSpPr>
        <p:spPr>
          <a:xfrm>
            <a:off x="150876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61DAFB"/>
                </a:solidFill>
              </a:rPr>
              <a:t>Componentes</a:t>
            </a:r>
            <a:r>
              <a:rPr lang="en-US" sz="1800" b="1" dirty="0">
                <a:solidFill>
                  <a:srgbClr val="61DAFB"/>
                </a:solidFill>
              </a:rPr>
              <a:t> </a:t>
            </a:r>
            <a:r>
              <a:rPr lang="en-US" sz="1800" b="1" dirty="0" err="1">
                <a:solidFill>
                  <a:srgbClr val="61DAFB"/>
                </a:solidFill>
              </a:rPr>
              <a:t>Conteúdo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BBA07C9-C5E6-09EF-736F-D95B7F052D79}"/>
              </a:ext>
            </a:extLst>
          </p:cNvPr>
          <p:cNvSpPr/>
          <p:nvPr/>
        </p:nvSpPr>
        <p:spPr>
          <a:xfrm>
            <a:off x="365760" y="8412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3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Conteudo.jsx</a:t>
            </a:r>
            <a:endParaRPr lang="en-US" sz="1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D3AC188-1CD1-EC78-A83A-CDB45552CAD8}"/>
              </a:ext>
            </a:extLst>
          </p:cNvPr>
          <p:cNvSpPr/>
          <p:nvPr/>
        </p:nvSpPr>
        <p:spPr>
          <a:xfrm>
            <a:off x="365760" y="1297432"/>
            <a:ext cx="3931920" cy="245440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AB2A2FE-D2D3-6FFF-85BA-F799115F7DF2}"/>
              </a:ext>
            </a:extLst>
          </p:cNvPr>
          <p:cNvSpPr/>
          <p:nvPr/>
        </p:nvSpPr>
        <p:spPr>
          <a:xfrm>
            <a:off x="594360" y="146304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000" dirty="0" err="1">
                <a:solidFill>
                  <a:srgbClr val="CDD6F4"/>
                </a:solidFill>
                <a:latin typeface="Consolas" pitchFamily="34" charset="0"/>
              </a:rPr>
              <a:t>import</a:t>
            </a:r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 </a:t>
            </a:r>
            <a:r>
              <a:rPr lang="pt-BR" sz="1000" dirty="0" err="1">
                <a:solidFill>
                  <a:srgbClr val="CDD6F4"/>
                </a:solidFill>
                <a:latin typeface="Consolas" pitchFamily="34" charset="0"/>
              </a:rPr>
              <a:t>styled</a:t>
            </a:r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 </a:t>
            </a:r>
            <a:r>
              <a:rPr lang="pt-BR" sz="1000" dirty="0" err="1">
                <a:solidFill>
                  <a:srgbClr val="CDD6F4"/>
                </a:solidFill>
                <a:latin typeface="Consolas" pitchFamily="34" charset="0"/>
              </a:rPr>
              <a:t>from</a:t>
            </a:r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 "</a:t>
            </a:r>
            <a:r>
              <a:rPr lang="pt-BR" sz="1000" dirty="0" err="1">
                <a:solidFill>
                  <a:srgbClr val="CDD6F4"/>
                </a:solidFill>
                <a:latin typeface="Consolas" pitchFamily="34" charset="0"/>
              </a:rPr>
              <a:t>styled-components</a:t>
            </a:r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"</a:t>
            </a:r>
          </a:p>
          <a:p>
            <a:pPr marL="0" indent="0">
              <a:buNone/>
            </a:pPr>
            <a:endParaRPr lang="en-US" sz="1000" dirty="0">
              <a:solidFill>
                <a:srgbClr val="CDD6F4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ModeloConteudo = styled.div`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#eee;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margin-bottom: 16px;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16px;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text-align: center;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Conteudo({ texto })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&lt;ModeloConteudo&gt;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{texto}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&lt;/ModeloConteudo&gt;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23F2ABA-200C-37B9-16DC-F4BDCA0CF7EF}"/>
              </a:ext>
            </a:extLst>
          </p:cNvPr>
          <p:cNvSpPr/>
          <p:nvPr/>
        </p:nvSpPr>
        <p:spPr>
          <a:xfrm>
            <a:off x="4663440" y="8046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32A"/>
                </a:solidFill>
              </a:rPr>
              <a:t>Usando no </a:t>
            </a:r>
            <a:r>
              <a:rPr lang="en-US" sz="1200" b="1" dirty="0" err="1">
                <a:solidFill>
                  <a:srgbClr val="20232A"/>
                </a:solidFill>
              </a:rPr>
              <a:t>Inicio.jsx</a:t>
            </a:r>
            <a:r>
              <a:rPr lang="en-US" sz="1200" b="1" dirty="0">
                <a:solidFill>
                  <a:srgbClr val="20232A"/>
                </a:solidFill>
              </a:rPr>
              <a:t>:</a:t>
            </a:r>
            <a:endParaRPr lang="en-US" sz="12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277A2CB-1231-D6D1-C129-5EFF0A90999B}"/>
              </a:ext>
            </a:extLst>
          </p:cNvPr>
          <p:cNvSpPr/>
          <p:nvPr/>
        </p:nvSpPr>
        <p:spPr>
          <a:xfrm>
            <a:off x="4663440" y="1161288"/>
            <a:ext cx="4206240" cy="3300984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7503892-BFC4-C84F-87E1-A3698CDFD1A9}"/>
              </a:ext>
            </a:extLst>
          </p:cNvPr>
          <p:cNvSpPr/>
          <p:nvPr/>
        </p:nvSpPr>
        <p:spPr>
          <a:xfrm>
            <a:off x="4800600" y="1252728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000" dirty="0" err="1">
                <a:solidFill>
                  <a:srgbClr val="CDD6F4"/>
                </a:solidFill>
                <a:latin typeface="Consolas" pitchFamily="34" charset="0"/>
              </a:rPr>
              <a:t>import</a:t>
            </a:r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 { Titulo } </a:t>
            </a:r>
            <a:r>
              <a:rPr lang="pt-BR" sz="1000" dirty="0" err="1">
                <a:solidFill>
                  <a:srgbClr val="CDD6F4"/>
                </a:solidFill>
                <a:latin typeface="Consolas" pitchFamily="34" charset="0"/>
              </a:rPr>
              <a:t>from</a:t>
            </a:r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 "./componentes/Titulo"</a:t>
            </a:r>
          </a:p>
          <a:p>
            <a:r>
              <a:rPr lang="pt-BR" sz="1000" dirty="0" err="1">
                <a:solidFill>
                  <a:srgbClr val="CDD6F4"/>
                </a:solidFill>
                <a:latin typeface="Consolas" pitchFamily="34" charset="0"/>
              </a:rPr>
              <a:t>import</a:t>
            </a:r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 { Campo } </a:t>
            </a:r>
            <a:r>
              <a:rPr lang="pt-BR" sz="1000" dirty="0" err="1">
                <a:solidFill>
                  <a:srgbClr val="CDD6F4"/>
                </a:solidFill>
                <a:latin typeface="Consolas" pitchFamily="34" charset="0"/>
              </a:rPr>
              <a:t>from</a:t>
            </a:r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 "./componentes/Campo"</a:t>
            </a:r>
          </a:p>
          <a:p>
            <a:r>
              <a:rPr lang="pt-BR" sz="1000" dirty="0" err="1">
                <a:solidFill>
                  <a:srgbClr val="CDD6F4"/>
                </a:solidFill>
                <a:latin typeface="Consolas" pitchFamily="34" charset="0"/>
              </a:rPr>
              <a:t>import</a:t>
            </a:r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 { </a:t>
            </a:r>
            <a:r>
              <a:rPr lang="pt-BR" sz="1000" dirty="0" err="1">
                <a:solidFill>
                  <a:srgbClr val="CDD6F4"/>
                </a:solidFill>
                <a:latin typeface="Consolas" pitchFamily="34" charset="0"/>
              </a:rPr>
              <a:t>Conteudo</a:t>
            </a:r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 } </a:t>
            </a:r>
            <a:r>
              <a:rPr lang="pt-BR" sz="1000" dirty="0" err="1">
                <a:solidFill>
                  <a:srgbClr val="CDD6F4"/>
                </a:solidFill>
                <a:latin typeface="Consolas" pitchFamily="34" charset="0"/>
              </a:rPr>
              <a:t>from</a:t>
            </a:r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 "./componentes/</a:t>
            </a:r>
            <a:r>
              <a:rPr lang="pt-BR" sz="1000" dirty="0" err="1">
                <a:solidFill>
                  <a:srgbClr val="CDD6F4"/>
                </a:solidFill>
                <a:latin typeface="Consolas" pitchFamily="34" charset="0"/>
              </a:rPr>
              <a:t>Conteudo</a:t>
            </a:r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"</a:t>
            </a:r>
          </a:p>
          <a:p>
            <a:endParaRPr lang="pt-BR" sz="1000" dirty="0">
              <a:solidFill>
                <a:srgbClr val="CDD6F4"/>
              </a:solidFill>
              <a:latin typeface="Consolas" pitchFamily="34" charset="0"/>
            </a:endParaRPr>
          </a:p>
          <a:p>
            <a:r>
              <a:rPr lang="pt-BR" sz="1000" dirty="0" err="1">
                <a:solidFill>
                  <a:srgbClr val="CDD6F4"/>
                </a:solidFill>
                <a:latin typeface="Consolas" pitchFamily="34" charset="0"/>
              </a:rPr>
              <a:t>export</a:t>
            </a:r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 </a:t>
            </a:r>
            <a:r>
              <a:rPr lang="pt-BR" sz="1000" dirty="0" err="1">
                <a:solidFill>
                  <a:srgbClr val="CDD6F4"/>
                </a:solidFill>
                <a:latin typeface="Consolas" pitchFamily="34" charset="0"/>
              </a:rPr>
              <a:t>function</a:t>
            </a:r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 Inicio() {</a:t>
            </a:r>
          </a:p>
          <a:p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  </a:t>
            </a:r>
            <a:r>
              <a:rPr lang="pt-BR" sz="1000" dirty="0" err="1">
                <a:solidFill>
                  <a:srgbClr val="CDD6F4"/>
                </a:solidFill>
                <a:latin typeface="Consolas" pitchFamily="34" charset="0"/>
              </a:rPr>
              <a:t>return</a:t>
            </a:r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 (</a:t>
            </a:r>
          </a:p>
          <a:p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    &lt;&gt;</a:t>
            </a:r>
          </a:p>
          <a:p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      &lt;Titulo nome="Velejando com o </a:t>
            </a:r>
            <a:r>
              <a:rPr lang="pt-BR" sz="1000" dirty="0" err="1">
                <a:solidFill>
                  <a:srgbClr val="CDD6F4"/>
                </a:solidFill>
                <a:latin typeface="Consolas" pitchFamily="34" charset="0"/>
              </a:rPr>
              <a:t>React</a:t>
            </a:r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" /&gt;</a:t>
            </a:r>
          </a:p>
          <a:p>
            <a:br>
              <a:rPr lang="pt-BR" sz="1000" dirty="0">
                <a:solidFill>
                  <a:srgbClr val="CDD6F4"/>
                </a:solidFill>
                <a:latin typeface="Consolas" pitchFamily="34" charset="0"/>
              </a:rPr>
            </a:br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      &lt;Campo id="1"&gt;</a:t>
            </a:r>
          </a:p>
          <a:p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        &lt;</a:t>
            </a:r>
            <a:r>
              <a:rPr lang="pt-BR" sz="1000" dirty="0" err="1">
                <a:solidFill>
                  <a:srgbClr val="CDD6F4"/>
                </a:solidFill>
                <a:latin typeface="Consolas" pitchFamily="34" charset="0"/>
              </a:rPr>
              <a:t>Conteudo</a:t>
            </a:r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 texto="Estudar </a:t>
            </a:r>
            <a:r>
              <a:rPr lang="pt-BR" sz="1000" dirty="0" err="1">
                <a:solidFill>
                  <a:srgbClr val="CDD6F4"/>
                </a:solidFill>
                <a:latin typeface="Consolas" pitchFamily="34" charset="0"/>
              </a:rPr>
              <a:t>React</a:t>
            </a:r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"/&gt;</a:t>
            </a:r>
          </a:p>
          <a:p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      &lt;/Campo&gt;</a:t>
            </a:r>
          </a:p>
          <a:p>
            <a:br>
              <a:rPr lang="pt-BR" sz="1000" dirty="0">
                <a:solidFill>
                  <a:srgbClr val="CDD6F4"/>
                </a:solidFill>
                <a:latin typeface="Consolas" pitchFamily="34" charset="0"/>
              </a:rPr>
            </a:br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      &lt;Campo id="2"&gt;</a:t>
            </a:r>
          </a:p>
          <a:p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        &lt;</a:t>
            </a:r>
            <a:r>
              <a:rPr lang="pt-BR" sz="1000" dirty="0" err="1">
                <a:solidFill>
                  <a:srgbClr val="CDD6F4"/>
                </a:solidFill>
                <a:latin typeface="Consolas" pitchFamily="34" charset="0"/>
              </a:rPr>
              <a:t>Conteudo</a:t>
            </a:r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 texto="Tirar o lixo"/&gt;</a:t>
            </a:r>
          </a:p>
          <a:p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        &lt;</a:t>
            </a:r>
            <a:r>
              <a:rPr lang="pt-BR" sz="1000" dirty="0" err="1">
                <a:solidFill>
                  <a:srgbClr val="CDD6F4"/>
                </a:solidFill>
                <a:latin typeface="Consolas" pitchFamily="34" charset="0"/>
              </a:rPr>
              <a:t>Conteudo</a:t>
            </a:r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 texto="Lavar a louça"/&gt;</a:t>
            </a:r>
          </a:p>
          <a:p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      &lt;/Campo&gt;</a:t>
            </a:r>
          </a:p>
          <a:p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    &lt;/&gt;</a:t>
            </a:r>
          </a:p>
          <a:p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  )</a:t>
            </a:r>
          </a:p>
          <a:p>
            <a:r>
              <a:rPr lang="pt-BR" sz="1000" dirty="0">
                <a:solidFill>
                  <a:srgbClr val="CDD6F4"/>
                </a:solidFill>
                <a:latin typeface="Consolas" pitchFamily="34" charset="0"/>
              </a:rPr>
              <a:t>}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46CB6E7-865A-2239-5B21-B4820F7C149A}"/>
              </a:ext>
            </a:extLst>
          </p:cNvPr>
          <p:cNvSpPr/>
          <p:nvPr/>
        </p:nvSpPr>
        <p:spPr>
          <a:xfrm>
            <a:off x="274320" y="41422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555F6E"/>
                </a:solidFill>
              </a:rPr>
              <a:t>💡 </a:t>
            </a:r>
            <a:r>
              <a:rPr lang="pt-BR" sz="1000" i="1" dirty="0">
                <a:solidFill>
                  <a:srgbClr val="555F6E"/>
                </a:solidFill>
              </a:rPr>
              <a:t>A função recebe a </a:t>
            </a:r>
            <a:r>
              <a:rPr lang="pt-BR" sz="1000" i="1" dirty="0" err="1">
                <a:solidFill>
                  <a:srgbClr val="555F6E"/>
                </a:solidFill>
              </a:rPr>
              <a:t>prop</a:t>
            </a:r>
            <a:r>
              <a:rPr lang="pt-BR" sz="1000" i="1" dirty="0">
                <a:solidFill>
                  <a:srgbClr val="555F6E"/>
                </a:solidFill>
              </a:rPr>
              <a:t> </a:t>
            </a:r>
            <a:r>
              <a:rPr lang="pt-BR" sz="1000" b="1" i="1" dirty="0">
                <a:solidFill>
                  <a:srgbClr val="555F6E"/>
                </a:solidFill>
              </a:rPr>
              <a:t>texto</a:t>
            </a:r>
            <a:r>
              <a:rPr lang="pt-BR" sz="1000" i="1" dirty="0">
                <a:solidFill>
                  <a:srgbClr val="555F6E"/>
                </a:solidFill>
              </a:rPr>
              <a:t> e a posiciona dentro dessa estrutura, permitindo que cada item da sua lista de tarefas tenha a mesma aparência, mudando apenas o conteúdo escrito.</a:t>
            </a:r>
            <a:endParaRPr lang="en-US" sz="1000" i="1" dirty="0">
              <a:solidFill>
                <a:srgbClr val="555F6E"/>
              </a:solidFill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B17AA29-4D16-0E8D-7155-80B0473E2459}"/>
              </a:ext>
            </a:extLst>
          </p:cNvPr>
          <p:cNvSpPr/>
          <p:nvPr/>
        </p:nvSpPr>
        <p:spPr>
          <a:xfrm>
            <a:off x="5353050" y="2768600"/>
            <a:ext cx="2406650" cy="190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4D5D3DD-7E25-DCDA-90BD-DBC63C1ACCF7}"/>
              </a:ext>
            </a:extLst>
          </p:cNvPr>
          <p:cNvSpPr/>
          <p:nvPr/>
        </p:nvSpPr>
        <p:spPr>
          <a:xfrm>
            <a:off x="5353050" y="3385946"/>
            <a:ext cx="2406650" cy="3097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2352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65760" y="109728"/>
            <a:ext cx="1005840" cy="457200"/>
          </a:xfrm>
          <a:prstGeom prst="rect">
            <a:avLst/>
          </a:prstGeom>
          <a:solidFill>
            <a:srgbClr val="CB356B"/>
          </a:solidFill>
          <a:ln w="12700">
            <a:solidFill>
              <a:srgbClr val="CB35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Lesson 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0876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1DAFB"/>
                </a:solidFill>
              </a:rPr>
              <a:t>O que é useState? (Hook do React)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8229600" cy="685800"/>
          </a:xfrm>
          <a:prstGeom prst="rect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80467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1DAFB"/>
                </a:solidFill>
              </a:rPr>
              <a:t>useState = uma variável especial que quando muda, atualiza a tela automaticamente!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A"/>
                </a:solidFill>
              </a:rPr>
              <a:t>Sintaxe: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47672"/>
            <a:ext cx="8229600" cy="86868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4360" y="2039112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useState } from "react"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 estado, definidor ] = useState(valorInicial)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2606040" cy="1097280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48640" y="29718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31012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0232A"/>
                </a:solidFill>
              </a:rPr>
              <a:t>Guarda o valor atual. Usamos para MOSTRAR na tela.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2926080"/>
            <a:ext cx="2606040" cy="1097280"/>
          </a:xfrm>
          <a:prstGeom prst="rect">
            <a:avLst/>
          </a:prstGeom>
          <a:solidFill>
            <a:srgbClr val="D1ECF1"/>
          </a:solidFill>
          <a:ln w="25400">
            <a:solidFill>
              <a:srgbClr val="17A2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337560" y="29718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definidor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331012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0232A"/>
                </a:solidFill>
              </a:rPr>
              <a:t>Função para MUDAR o valor. Quando chamada, a tela atualiza!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2926080"/>
            <a:ext cx="2606040" cy="1097280"/>
          </a:xfrm>
          <a:prstGeom prst="rect">
            <a:avLst/>
          </a:prstGeom>
          <a:solidFill>
            <a:srgbClr val="FFF3CD"/>
          </a:solidFill>
          <a:ln w="254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126480" y="29718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valorInicial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331012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0232A"/>
                </a:solidFill>
              </a:rPr>
              <a:t>O primeiro valor. Também define o TIPO de dado (texto, número, lista...).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A"/>
                </a:solidFill>
              </a:rPr>
              <a:t>Exemplo prático (dinheiro):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507992"/>
            <a:ext cx="8229600" cy="164592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94360" y="4599432"/>
            <a:ext cx="7955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 dinheiro, definirDinheiro ] = useState(100)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console.log(dinheiro)   // imprime: 100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definirDinheiro(500)    // muda o valor!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console.log(dinheiro)   // imprime: 500</a:t>
            </a:r>
            <a:endParaRPr lang="en-US" sz="1000" dirty="0"/>
          </a:p>
        </p:txBody>
      </p:sp>
      <p:sp>
        <p:nvSpPr>
          <p:cNvPr id="23" name="Triângulo isósceles 22">
            <a:extLst>
              <a:ext uri="{FF2B5EF4-FFF2-40B4-BE49-F238E27FC236}">
                <a16:creationId xmlns:a16="http://schemas.microsoft.com/office/drawing/2014/main" id="{0E302329-CA79-2267-481F-0D5EE88C21E9}"/>
              </a:ext>
            </a:extLst>
          </p:cNvPr>
          <p:cNvSpPr/>
          <p:nvPr/>
        </p:nvSpPr>
        <p:spPr>
          <a:xfrm>
            <a:off x="2901950" y="869950"/>
            <a:ext cx="3270252" cy="28575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65760" y="109728"/>
            <a:ext cx="1005840" cy="457200"/>
          </a:xfrm>
          <a:prstGeom prst="rect">
            <a:avLst/>
          </a:prstGeom>
          <a:solidFill>
            <a:srgbClr val="CB356B"/>
          </a:solidFill>
          <a:ln w="12700">
            <a:solidFill>
              <a:srgbClr val="CB35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Lesson 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0876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1DAFB"/>
                </a:solidFill>
              </a:rPr>
              <a:t>Alternando Estado: feito / não feito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4754880" cy="438912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94360" y="896112"/>
            <a:ext cx="4480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useState } from "react"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styled from "styled-components"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Conteudo({ texto }) {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Estado: começa como false (não feito)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 feito, definirFeito ] = useState(false)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Função que inverte o valor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Alternar()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definirFeito(!feito)  // !false = true, !true = false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&lt;ModeloConteudo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onClick={Alternar}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$estado={feito}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{texto}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&lt;/ModeloConteudo&gt;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94960" y="8046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A"/>
                </a:solidFill>
              </a:rPr>
              <a:t>Como funciona o clique: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94960" y="1234440"/>
            <a:ext cx="3474720" cy="502920"/>
          </a:xfrm>
          <a:prstGeom prst="rect">
            <a:avLst/>
          </a:prstGeom>
          <a:solidFill>
            <a:srgbClr val="EBF4FD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486400" y="1234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32A"/>
                </a:solidFill>
              </a:rPr>
              <a:t>Usuário clica na tarefa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171907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F6E"/>
                </a:solidFill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94960" y="1901952"/>
            <a:ext cx="3474720" cy="502920"/>
          </a:xfrm>
          <a:prstGeom prst="rect">
            <a:avLst/>
          </a:prstGeom>
          <a:solidFill>
            <a:srgbClr val="FFF3CD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486400" y="19019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32A"/>
                </a:solidFill>
              </a:rPr>
              <a:t>onClick chama Alternar()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238658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F6E"/>
                </a:solidFill>
              </a:rPr>
              <a:t>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94960" y="2569464"/>
            <a:ext cx="3474720" cy="502920"/>
          </a:xfrm>
          <a:prstGeom prst="rect">
            <a:avLst/>
          </a:prstGeom>
          <a:solidFill>
            <a:srgbClr val="FFF3CD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486400" y="256946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32A"/>
                </a:solidFill>
              </a:rPr>
              <a:t>definirFeito(!feito)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305409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F6E"/>
                </a:solidFill>
              </a:rPr>
              <a:t>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94960" y="3236976"/>
            <a:ext cx="3474720" cy="502920"/>
          </a:xfrm>
          <a:prstGeom prst="rect">
            <a:avLst/>
          </a:prstGeom>
          <a:solidFill>
            <a:srgbClr val="D4EDD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486400" y="323697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32A"/>
                </a:solidFill>
              </a:rPr>
              <a:t>feito: false → true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37216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F6E"/>
                </a:solidFill>
              </a:rPr>
              <a:t>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94960" y="3904488"/>
            <a:ext cx="3474720" cy="502920"/>
          </a:xfrm>
          <a:prstGeom prst="rect">
            <a:avLst/>
          </a:prstGeom>
          <a:solidFill>
            <a:srgbClr val="D4EDD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486400" y="39044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32A"/>
                </a:solidFill>
              </a:rPr>
              <a:t>Componente re-renderiza!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94960" y="4617720"/>
            <a:ext cx="3474720" cy="411480"/>
          </a:xfrm>
          <a:prstGeom prst="rect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486400" y="4617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!feito  →  inverte o valor booleano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65760" y="109728"/>
            <a:ext cx="1005840" cy="457200"/>
          </a:xfrm>
          <a:prstGeom prst="rect">
            <a:avLst/>
          </a:prstGeom>
          <a:solidFill>
            <a:srgbClr val="CB356B"/>
          </a:solidFill>
          <a:ln w="12700">
            <a:solidFill>
              <a:srgbClr val="CB35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Lesson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0876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1DAFB"/>
                </a:solidFill>
              </a:rPr>
              <a:t>Alterando Estilo pelo Estado (Ternário)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32A"/>
                </a:solidFill>
              </a:rPr>
              <a:t>Operador Ternário: a forma compacta do if/else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651760" cy="320040"/>
          </a:xfrm>
          <a:prstGeom prst="rect">
            <a:avLst/>
          </a:prstGeom>
          <a:solidFill>
            <a:srgbClr val="FFF3CD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232A"/>
                </a:solidFill>
              </a:rPr>
              <a:t>Convencional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2651760" cy="118872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6459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(estado)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'white'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'#eee'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2651760" cy="320040"/>
          </a:xfrm>
          <a:prstGeom prst="rect">
            <a:avLst/>
          </a:prstGeom>
          <a:solidFill>
            <a:srgbClr val="D1ECF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200400" y="1234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232A"/>
                </a:solidFill>
              </a:rPr>
              <a:t>Simplificada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554480"/>
            <a:ext cx="2651760" cy="118872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337560" y="16459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(estado)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'white'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'#eee'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234440"/>
            <a:ext cx="2651760" cy="320040"/>
          </a:xfrm>
          <a:prstGeom prst="rect">
            <a:avLst/>
          </a:prstGeom>
          <a:solidFill>
            <a:srgbClr val="D4EDD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035040" y="1234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232A"/>
                </a:solidFill>
              </a:rPr>
              <a:t>Ternária ✅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554480"/>
            <a:ext cx="2651760" cy="118872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172200" y="16459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 'white'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'#eee'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A"/>
                </a:solidFill>
              </a:rPr>
              <a:t>Aplicando no ModeloConteudo: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5029200" cy="288036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94360" y="3383280"/>
            <a:ext cx="4754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ModeloConteudo = styled.div`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${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({ $estado }) =&gt; $estado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? 'white' : '#eee'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margin-bottom: 16px;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16px;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text-align: center;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text-decoration: ${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({ $estado }) =&gt; $estado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? 'line-through' : 'none'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A"/>
                </a:solidFill>
              </a:rPr>
              <a:t>Resultado visual: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9280" y="3291840"/>
            <a:ext cx="3200400" cy="548640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669280" y="3291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0232A"/>
                </a:solidFill>
              </a:rPr>
              <a:t>Tirar o lixo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69280" y="3886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55F6E"/>
                </a:solidFill>
              </a:rPr>
              <a:t>feito: false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0" y="4160520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669280" y="4160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strike="sngStrike" dirty="0">
                <a:solidFill>
                  <a:srgbClr val="AAAAAA"/>
                </a:solidFill>
              </a:rPr>
              <a:t>Tirar o lixo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0" y="4754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8A745"/>
                </a:solidFill>
              </a:rPr>
              <a:t>feito: true  ✅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846320"/>
            <a:ext cx="5029200" cy="411480"/>
          </a:xfrm>
          <a:prstGeom prst="rect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548640" y="4846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DAFB"/>
                </a:solidFill>
              </a:rPr>
              <a:t>SC v6: use $estado (com $) — transient prop: nao vaza para o HTML, evita avisos no console!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65760" y="109728"/>
            <a:ext cx="1005840" cy="457200"/>
          </a:xfrm>
          <a:prstGeom prst="rect">
            <a:avLst/>
          </a:prstGeom>
          <a:solidFill>
            <a:srgbClr val="CB356B"/>
          </a:solidFill>
          <a:ln w="12700">
            <a:solidFill>
              <a:srgbClr val="CB35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Lesson 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0876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1DAFB"/>
                </a:solidFill>
              </a:rPr>
              <a:t>Componente Entrada (Input de Texto)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4754880" cy="443484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94360" y="896112"/>
            <a:ext cx="448056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styled from "styled-components"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ModeloEntrada = styled.input`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white;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none;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height: 42px;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16px;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text-align: center;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100%;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Entrada()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&lt;ModeloEntrada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type="text"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placeholder="Digite um novo conteúdo"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name="conteudo"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94960" y="8046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A"/>
                </a:solidFill>
              </a:rPr>
              <a:t>Atributos do &lt;input&gt;: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94960" y="1261872"/>
            <a:ext cx="3474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532120" y="1316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3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type="text"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32120" y="1600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Define que é uma caixa de texto (não senha, não número)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94960" y="2221992"/>
            <a:ext cx="3474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532120" y="22768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3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placeholder="..."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32120" y="2560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Texto de dica que aparece quando está vazio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4960" y="3182112"/>
            <a:ext cx="3474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532120" y="32369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3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name="conteudo"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32120" y="3520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Nome do campo — usamos para recuperar o valor depois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94960" y="3977640"/>
            <a:ext cx="347472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394960" y="3977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AAAAA"/>
                </a:solidFill>
              </a:rPr>
              <a:t>Digite um novo conteúdo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94960" y="4617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32A"/>
                </a:solidFill>
              </a:rPr>
              <a:t>No </a:t>
            </a:r>
            <a:r>
              <a:rPr lang="en-US" sz="1100" b="1" dirty="0" err="1">
                <a:solidFill>
                  <a:srgbClr val="20232A"/>
                </a:solidFill>
              </a:rPr>
              <a:t>Inicio.jsx</a:t>
            </a:r>
            <a:r>
              <a:rPr lang="en-US" sz="1100" b="1" dirty="0">
                <a:solidFill>
                  <a:srgbClr val="20232A"/>
                </a:solidFill>
              </a:rPr>
              <a:t>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94960" y="4919472"/>
            <a:ext cx="3474720" cy="118872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532120" y="501091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&lt;Campo id="1"&gt;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&lt;form&gt;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&lt;Entrada/&gt;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&lt;/form&gt;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&lt;/Campo&gt;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65760" y="109728"/>
            <a:ext cx="1005840" cy="457200"/>
          </a:xfrm>
          <a:prstGeom prst="rect">
            <a:avLst/>
          </a:prstGeom>
          <a:solidFill>
            <a:srgbClr val="CB356B"/>
          </a:solidFill>
          <a:ln w="12700">
            <a:solidFill>
              <a:srgbClr val="CB35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Lesson 12-13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0876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1DAFB"/>
                </a:solidFill>
              </a:rPr>
              <a:t>Configurando a Lista com useState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32A"/>
                </a:solidFill>
              </a:rPr>
              <a:t>No </a:t>
            </a:r>
            <a:r>
              <a:rPr lang="en-US" sz="1300" dirty="0" err="1">
                <a:solidFill>
                  <a:srgbClr val="20232A"/>
                </a:solidFill>
              </a:rPr>
              <a:t>Inicio.jsx</a:t>
            </a:r>
            <a:r>
              <a:rPr lang="en-US" sz="1300" dirty="0">
                <a:solidFill>
                  <a:srgbClr val="20232A"/>
                </a:solidFill>
              </a:rPr>
              <a:t> — criamos o estado da lista: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754880" cy="489204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94360" y="1325880"/>
            <a:ext cx="448056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useState } from "react"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Inicio() {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Lista começa vazia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 lista, definirLista ] = useState("")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Função chamada quando o form é enviado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Adicionar(evento)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valor = evento.target.conteudo.value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definirLista(valor)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evento.preventDefault() // não recarrega a página!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&lt;Titulo nome="Velejando com o React" /&gt;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&lt;Campo id="1"&gt;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&lt;form onSubmit={Adicionar}&gt;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&lt;Entrada /&gt;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&lt;/form&gt;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&lt;/Campo&gt;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&lt;Campo id="2"&gt;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&lt;Conteudo texto={lista}/&gt;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&lt;/Campo&gt;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94960" y="8046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A"/>
                </a:solidFill>
              </a:rPr>
              <a:t>Entendendo o Adicionar():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94960" y="1261872"/>
            <a:ext cx="34747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532120" y="1307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3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32120" y="1572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Informações do formulário enviado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94960" y="2020824"/>
            <a:ext cx="3474720" cy="667512"/>
          </a:xfrm>
          <a:prstGeom prst="rect">
            <a:avLst/>
          </a:prstGeom>
          <a:solidFill>
            <a:srgbClr val="F8F9FA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532120" y="20665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3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.target.conteudo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3212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Acessa o campo com name="conteudo"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94960" y="2779776"/>
            <a:ext cx="34747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532120" y="28254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3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.value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32120" y="30906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Pega o texto que o usuário digitou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94960" y="3538728"/>
            <a:ext cx="3474720" cy="667512"/>
          </a:xfrm>
          <a:prstGeom prst="rect">
            <a:avLst/>
          </a:prstGeom>
          <a:solidFill>
            <a:srgbClr val="F8F9FA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532120" y="35844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3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definirLista(valor)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32120" y="38496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Atualiza o estado e re-renderiza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94960" y="4297680"/>
            <a:ext cx="34747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532120" y="43434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3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preventDefault()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32120" y="46085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Impede a página de recarregar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65760" y="109728"/>
            <a:ext cx="1005840" cy="457200"/>
          </a:xfrm>
          <a:prstGeom prst="rect">
            <a:avLst/>
          </a:prstGeom>
          <a:solidFill>
            <a:srgbClr val="CB356B"/>
          </a:solidFill>
          <a:ln w="12700">
            <a:solidFill>
              <a:srgbClr val="CB35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Lesson 14-15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0876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1DAFB"/>
                </a:solidFill>
              </a:rPr>
              <a:t>Adicionando Tarefas e Mapeando a Lista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A"/>
                </a:solidFill>
              </a:rPr>
              <a:t>Mudança: de String para Array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754880" cy="333756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94360" y="1325880"/>
            <a:ext cx="44805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ANTES (só 1 valor):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 lista, definirLista ] = useState("")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DEPOIS (vários valores):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 lista, definirLista ] = useState([])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Função atualizada: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Adicionar(evento)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valor = evento.target.conteudo.value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definirLista([...lista, valor])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           ↑ copia a lista atual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                     ↑ adiciona o novo item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evento.preventDefault()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4754880" cy="548640"/>
          </a:xfrm>
          <a:prstGeom prst="rect">
            <a:avLst/>
          </a:prstGeom>
          <a:solidFill>
            <a:srgbClr val="FFF3CD"/>
          </a:solidFill>
          <a:ln w="12700">
            <a:solidFill>
              <a:srgbClr val="FFEA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48640" y="4663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56404"/>
                </a:solidFill>
              </a:rPr>
              <a:t>💡 ...lista = "spread operator" — expande todos os itens da lista anterior numa nova lista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94960" y="8046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A"/>
                </a:solidFill>
              </a:rPr>
              <a:t>Renderizando com .map():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94960" y="1234440"/>
            <a:ext cx="3474720" cy="22860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532120" y="132588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Exemplo com animais: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animais = ["Galinha","Porco"]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animais.map(function(animal)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&lt;h1&gt;{animal}&lt;/h1&gt;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Resultado: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&lt;h1&gt;Galinha&lt;/h1&gt;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&lt;h1&gt;Porco&lt;/h1&gt;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9496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32A"/>
                </a:solidFill>
              </a:rPr>
              <a:t>No </a:t>
            </a:r>
            <a:r>
              <a:rPr lang="en-US" sz="1200" b="1" dirty="0" err="1">
                <a:solidFill>
                  <a:srgbClr val="20232A"/>
                </a:solidFill>
              </a:rPr>
              <a:t>Inicio.jsx</a:t>
            </a:r>
            <a:r>
              <a:rPr lang="en-US" sz="1200" b="1" dirty="0">
                <a:solidFill>
                  <a:srgbClr val="20232A"/>
                </a:solidFill>
              </a:rPr>
              <a:t>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94960" y="3977640"/>
            <a:ext cx="3474720" cy="22860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532120" y="406908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&lt;Campo id="2"&gt;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lista.map(function(item)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&lt;Conteudo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key={item}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texto={item}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&lt;/Campo&gt;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57800" y="2560320"/>
            <a:ext cx="109728" cy="1188720"/>
          </a:xfrm>
          <a:prstGeom prst="rect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365760" y="109728"/>
            <a:ext cx="1005840" cy="457200"/>
          </a:xfrm>
          <a:prstGeom prst="rect">
            <a:avLst/>
          </a:prstGeom>
          <a:solidFill>
            <a:srgbClr val="CB356B"/>
          </a:solidFill>
          <a:ln w="12700">
            <a:solidFill>
              <a:srgbClr val="CB35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Lesson 16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0876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1DAFB"/>
                </a:solidFill>
              </a:rPr>
              <a:t>Resumo do que Aprendemos!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502920" cy="502920"/>
          </a:xfrm>
          <a:prstGeom prst="ellipse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960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32A"/>
                </a:solidFill>
              </a:rPr>
              <a:t>Estrutura do Projeto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463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Vite + React + Styled Components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82296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337560" y="960120"/>
            <a:ext cx="502920" cy="502920"/>
          </a:xfrm>
          <a:prstGeom prst="ellipse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33756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31920" y="960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32A"/>
                </a:solidFill>
              </a:rPr>
              <a:t>Styled Components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1463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CSS dentro do JavaScript, com props!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82296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172200" y="960120"/>
            <a:ext cx="502920" cy="502920"/>
          </a:xfrm>
          <a:prstGeom prst="ellipse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17220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66560" y="960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32A"/>
                </a:solidFill>
              </a:rPr>
              <a:t>Manipulação de Datas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1463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new Date() e toLocaleDateString()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28600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502920" y="2423160"/>
            <a:ext cx="502920" cy="502920"/>
          </a:xfrm>
          <a:prstGeom prst="ellipse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029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🔀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97280" y="2423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32A"/>
                </a:solidFill>
              </a:rPr>
              <a:t>useState Hook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Estado de componentes com definidor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228600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3337560" y="2423160"/>
            <a:ext cx="502920" cy="502920"/>
          </a:xfrm>
          <a:prstGeom prst="ellipse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33375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🖱️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931920" y="2423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32A"/>
                </a:solidFill>
              </a:rPr>
              <a:t>Eventos (onClick)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3756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Reagindo a cliques do usuário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35040" y="228600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6172200" y="2423160"/>
            <a:ext cx="502920" cy="502920"/>
          </a:xfrm>
          <a:prstGeom prst="ellipse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61722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66560" y="2423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32A"/>
                </a:solidFill>
              </a:rPr>
              <a:t>Array e .map()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7220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Renderizar listas dinamicamente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434840"/>
            <a:ext cx="8229600" cy="640080"/>
          </a:xfrm>
          <a:prstGeom prst="rect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457200" y="4434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1DAFB"/>
                </a:solidFill>
              </a:rPr>
              <a:t>🎉  Parabéns! Você construiu uma Todo List completa com React!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1DAFB"/>
                </a:solidFill>
              </a:rPr>
              <a:t>Desafios Para Praticar 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232A"/>
                </a:solidFill>
              </a:rPr>
              <a:t>Quer ir além? Tente esses desafios!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64008" cy="777240"/>
          </a:xfrm>
          <a:prstGeom prst="rect">
            <a:avLst/>
          </a:prstGeom>
          <a:solidFill>
            <a:srgbClr val="CB356B"/>
          </a:solidFill>
          <a:ln w="12700">
            <a:solidFill>
              <a:srgbClr val="CB35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F6E"/>
                </a:solidFill>
              </a:rPr>
              <a:t>⭐ Fácil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13533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A"/>
                </a:solidFill>
              </a:rPr>
              <a:t>Mudar as cores do degradê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Experimente novas cores no linear-gradient() do componente Título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64008" cy="777240"/>
          </a:xfrm>
          <a:prstGeom prst="rect">
            <a:avLst/>
          </a:prstGeom>
          <a:solidFill>
            <a:srgbClr val="CB356B"/>
          </a:solidFill>
          <a:ln w="12700">
            <a:solidFill>
              <a:srgbClr val="CB35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F6E"/>
                </a:solidFill>
              </a:rPr>
              <a:t>⭐⭐ Médio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0" y="22677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A"/>
                </a:solidFill>
              </a:rPr>
              <a:t>Limpar o input após adicionar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5786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Após adicionar, limpe o campo: evento.target.conteudo.value = ''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64008" cy="777240"/>
          </a:xfrm>
          <a:prstGeom prst="rect">
            <a:avLst/>
          </a:prstGeom>
          <a:solidFill>
            <a:srgbClr val="CB356B"/>
          </a:solidFill>
          <a:ln w="12700">
            <a:solidFill>
              <a:srgbClr val="CB35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008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F6E"/>
                </a:solidFill>
              </a:rPr>
              <a:t>⭐⭐ Médio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31821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A"/>
                </a:solidFill>
              </a:rPr>
              <a:t>Contador de tarefas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4930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Mostre quantas tarefas estão na lista usando lista.length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64008" cy="777240"/>
          </a:xfrm>
          <a:prstGeom prst="rect">
            <a:avLst/>
          </a:prstGeom>
          <a:solidFill>
            <a:srgbClr val="CB356B"/>
          </a:solidFill>
          <a:ln w="12700">
            <a:solidFill>
              <a:srgbClr val="CB35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4008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F6E"/>
                </a:solidFill>
              </a:rPr>
              <a:t>⭐⭐⭐ Difícil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4096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32A"/>
                </a:solidFill>
              </a:rPr>
              <a:t>Remover tarefas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4074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6E"/>
                </a:solidFill>
              </a:rPr>
              <a:t>Adicione um botão ✖ em cada tarefa para removê-la da lista usando filter()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892040"/>
            <a:ext cx="8229600" cy="155448"/>
          </a:xfrm>
          <a:prstGeom prst="rect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2874</Words>
  <Application>Microsoft Office PowerPoint</Application>
  <PresentationFormat>Apresentação na tela (16:9)</PresentationFormat>
  <Paragraphs>579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2" baseType="lpstr">
      <vt:lpstr>Arial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Aula 3 - Todo List com useState</dc:title>
  <dc:subject>PptxGenJS Presentation</dc:subject>
  <dc:creator>PptxGenJS</dc:creator>
  <cp:lastModifiedBy>Emanuele Magalhães</cp:lastModifiedBy>
  <cp:revision>2</cp:revision>
  <dcterms:created xsi:type="dcterms:W3CDTF">2026-03-08T20:37:57Z</dcterms:created>
  <dcterms:modified xsi:type="dcterms:W3CDTF">2026-03-08T23:26:11Z</dcterms:modified>
</cp:coreProperties>
</file>