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75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73" r:id="rId11"/>
    <p:sldId id="264" r:id="rId12"/>
    <p:sldId id="27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79" d="100"/>
          <a:sy n="79" d="100"/>
        </p:scale>
        <p:origin x="108" y="11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968645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3D6911-D39C-CBFA-B356-72C41A1CC2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CAF07B-397B-98B8-3756-E854E31C88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5F8C268-999D-0092-E5CE-33B08E03F3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387531-544A-F184-8E2F-79D6CACE577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986115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E400B8-1801-B8DD-1B04-6A651F9A52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0001B9E-A306-32F6-EEB3-463BA5192F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8026D17-9F45-B6A1-4877-E6D223319F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797C3D-ACFE-BEC9-8D88-5F901275DDC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151556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C2A849-CFF3-3E66-A5AE-6F46F521FA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7783DD-50B5-9AAF-A060-39BB72E5DB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C4E5CE-5AEA-A5EA-A757-EE83A99C1E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9C5DEC-B7D7-51AF-8F20-D008D9B98FB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531915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023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0232A"/>
          </a:solidFill>
          <a:ln w="12700">
            <a:solidFill>
              <a:srgbClr val="2023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-914400" y="3200400"/>
            <a:ext cx="4572000" cy="2743200"/>
          </a:xfrm>
          <a:prstGeom prst="rect">
            <a:avLst/>
          </a:prstGeom>
          <a:solidFill>
            <a:srgbClr val="CB356B">
              <a:alpha val="15000"/>
            </a:srgbClr>
          </a:solidFill>
          <a:ln w="12700">
            <a:solidFill>
              <a:srgbClr val="CB356B">
                <a:alpha val="15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6400800" y="-457200"/>
            <a:ext cx="3657600" cy="3657600"/>
          </a:xfrm>
          <a:prstGeom prst="ellipse">
            <a:avLst/>
          </a:prstGeom>
          <a:solidFill>
            <a:srgbClr val="61DAFB">
              <a:alpha val="10000"/>
            </a:srgbClr>
          </a:solidFill>
          <a:ln w="12700">
            <a:solidFill>
              <a:srgbClr val="61DAFB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4"/>
          <p:cNvSpPr/>
          <p:nvPr/>
        </p:nvSpPr>
        <p:spPr>
          <a:xfrm>
            <a:off x="3886200" y="36576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dirty="0">
                <a:solidFill>
                  <a:srgbClr val="20232A"/>
                </a:solidFill>
              </a:rPr>
              <a:t>⚛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457200" y="19202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FFFFFF"/>
                </a:solidFill>
              </a:rPr>
              <a:t>React Aula 3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457200" y="2788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61DAFB"/>
                </a:solidFill>
              </a:rPr>
              <a:t>Todo List (</a:t>
            </a:r>
            <a:r>
              <a:rPr lang="en-US" sz="2200" dirty="0" err="1">
                <a:solidFill>
                  <a:srgbClr val="61DAFB"/>
                </a:solidFill>
              </a:rPr>
              <a:t>lista</a:t>
            </a:r>
            <a:r>
              <a:rPr lang="en-US" sz="2200" dirty="0">
                <a:solidFill>
                  <a:srgbClr val="61DAFB"/>
                </a:solidFill>
              </a:rPr>
              <a:t> de </a:t>
            </a:r>
            <a:r>
              <a:rPr lang="en-US" sz="2200" dirty="0" err="1">
                <a:solidFill>
                  <a:srgbClr val="61DAFB"/>
                </a:solidFill>
              </a:rPr>
              <a:t>tarefas</a:t>
            </a:r>
            <a:r>
              <a:rPr lang="en-US" sz="2200" dirty="0">
                <a:solidFill>
                  <a:srgbClr val="61DAFB"/>
                </a:solidFill>
              </a:rPr>
              <a:t>) com useState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57200" y="34290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8892A4"/>
                </a:solidFill>
              </a:rPr>
              <a:t>Styled Components • Listas • Estado de Componentes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023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DD1B5E2-0FA6-655E-991E-12C55232A5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95E56CDC-E5B6-87AD-BD02-77F708757660}"/>
              </a:ext>
            </a:extLst>
          </p:cNvPr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0232A"/>
          </a:solidFill>
          <a:ln w="12700">
            <a:solidFill>
              <a:srgbClr val="2023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E8F44814-7F71-E62B-1AF0-46767A3550E6}"/>
              </a:ext>
            </a:extLst>
          </p:cNvPr>
          <p:cNvSpPr/>
          <p:nvPr/>
        </p:nvSpPr>
        <p:spPr>
          <a:xfrm>
            <a:off x="-914400" y="3200400"/>
            <a:ext cx="4572000" cy="2743200"/>
          </a:xfrm>
          <a:prstGeom prst="rect">
            <a:avLst/>
          </a:prstGeom>
          <a:solidFill>
            <a:srgbClr val="CB356B">
              <a:alpha val="15000"/>
            </a:srgbClr>
          </a:solidFill>
          <a:ln w="12700">
            <a:solidFill>
              <a:srgbClr val="CB356B">
                <a:alpha val="15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FF156309-26E5-94F1-D0B1-4EF866CD13FB}"/>
              </a:ext>
            </a:extLst>
          </p:cNvPr>
          <p:cNvSpPr/>
          <p:nvPr/>
        </p:nvSpPr>
        <p:spPr>
          <a:xfrm>
            <a:off x="6400800" y="-457200"/>
            <a:ext cx="3657600" cy="3657600"/>
          </a:xfrm>
          <a:prstGeom prst="ellipse">
            <a:avLst/>
          </a:prstGeom>
          <a:solidFill>
            <a:srgbClr val="61DAFB">
              <a:alpha val="10000"/>
            </a:srgbClr>
          </a:solidFill>
          <a:ln w="12700">
            <a:solidFill>
              <a:srgbClr val="61DAFB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3D211150-91E6-C1BF-A3E3-39C70641F360}"/>
              </a:ext>
            </a:extLst>
          </p:cNvPr>
          <p:cNvSpPr/>
          <p:nvPr/>
        </p:nvSpPr>
        <p:spPr>
          <a:xfrm>
            <a:off x="3886200" y="36576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dirty="0">
                <a:solidFill>
                  <a:srgbClr val="20232A"/>
                </a:solidFill>
              </a:rPr>
              <a:t>⚛</a:t>
            </a:r>
            <a:endParaRPr lang="en-US" sz="38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A92289E4-998C-C3DB-DEDA-03C7E430C2B1}"/>
              </a:ext>
            </a:extLst>
          </p:cNvPr>
          <p:cNvSpPr/>
          <p:nvPr/>
        </p:nvSpPr>
        <p:spPr>
          <a:xfrm>
            <a:off x="457200" y="68580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pt-BR" sz="3200" b="1" dirty="0">
                <a:solidFill>
                  <a:schemeClr val="bg1"/>
                </a:solidFill>
              </a:rPr>
              <a:t>Criando o projeto</a:t>
            </a:r>
            <a:endParaRPr lang="pt-BR" sz="3200" dirty="0">
              <a:solidFill>
                <a:schemeClr val="bg1"/>
              </a:solidFill>
            </a:endParaRPr>
          </a:p>
          <a:p>
            <a:br>
              <a:rPr lang="pt-BR" sz="4400" dirty="0"/>
            </a:br>
            <a:endParaRPr lang="en-US" sz="42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B44266FD-A788-D40C-50F0-BB21DCEFC5DE}"/>
              </a:ext>
            </a:extLst>
          </p:cNvPr>
          <p:cNvSpPr/>
          <p:nvPr/>
        </p:nvSpPr>
        <p:spPr>
          <a:xfrm>
            <a:off x="457200" y="2117598"/>
            <a:ext cx="8229600" cy="1525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en-US" sz="2400" dirty="0" err="1">
                <a:solidFill>
                  <a:srgbClr val="61DAFB"/>
                </a:solidFill>
              </a:rPr>
              <a:t>npm</a:t>
            </a:r>
            <a:r>
              <a:rPr lang="en-US" sz="2400" dirty="0">
                <a:solidFill>
                  <a:srgbClr val="61DAFB"/>
                </a:solidFill>
              </a:rPr>
              <a:t> create </a:t>
            </a:r>
            <a:r>
              <a:rPr lang="en-US" sz="2400" dirty="0" err="1">
                <a:solidFill>
                  <a:srgbClr val="61DAFB"/>
                </a:solidFill>
              </a:rPr>
              <a:t>vite@latest</a:t>
            </a:r>
            <a:r>
              <a:rPr lang="en-US" sz="2400" dirty="0">
                <a:solidFill>
                  <a:srgbClr val="61DAFB"/>
                </a:solidFill>
              </a:rPr>
              <a:t> unit3-react -- --template react</a:t>
            </a:r>
          </a:p>
          <a:p>
            <a:pPr>
              <a:lnSpc>
                <a:spcPct val="150000"/>
              </a:lnSpc>
            </a:pPr>
            <a:endParaRPr lang="en-US" sz="2400" dirty="0">
              <a:solidFill>
                <a:srgbClr val="61DAFB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2400" dirty="0">
                <a:solidFill>
                  <a:srgbClr val="61DAFB"/>
                </a:solidFill>
              </a:rPr>
              <a:t>cd </a:t>
            </a:r>
            <a:r>
              <a:rPr lang="en-US" sz="2400" dirty="0" err="1">
                <a:solidFill>
                  <a:srgbClr val="61DAFB"/>
                </a:solidFill>
              </a:rPr>
              <a:t>nome</a:t>
            </a:r>
            <a:r>
              <a:rPr lang="en-US" sz="2400" dirty="0">
                <a:solidFill>
                  <a:srgbClr val="61DAFB"/>
                </a:solidFill>
              </a:rPr>
              <a:t>-do-</a:t>
            </a:r>
            <a:r>
              <a:rPr lang="en-US" sz="2400" dirty="0" err="1">
                <a:solidFill>
                  <a:srgbClr val="61DAFB"/>
                </a:solidFill>
              </a:rPr>
              <a:t>projeto</a:t>
            </a:r>
            <a:endParaRPr lang="en-US" sz="2400" dirty="0">
              <a:solidFill>
                <a:srgbClr val="61DAFB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2400" dirty="0" err="1">
                <a:solidFill>
                  <a:srgbClr val="61DAFB"/>
                </a:solidFill>
              </a:rPr>
              <a:t>npm</a:t>
            </a:r>
            <a:r>
              <a:rPr lang="en-US" sz="2400" dirty="0">
                <a:solidFill>
                  <a:srgbClr val="61DAFB"/>
                </a:solidFill>
              </a:rPr>
              <a:t> install</a:t>
            </a:r>
          </a:p>
          <a:p>
            <a:pPr>
              <a:lnSpc>
                <a:spcPct val="150000"/>
              </a:lnSpc>
            </a:pPr>
            <a:r>
              <a:rPr lang="pt-BR" altLang="pt-BR" sz="2400" dirty="0" err="1">
                <a:solidFill>
                  <a:srgbClr val="61DAFB"/>
                </a:solidFill>
              </a:rPr>
              <a:t>npm</a:t>
            </a:r>
            <a:r>
              <a:rPr lang="pt-BR" altLang="pt-BR" sz="2400" dirty="0">
                <a:solidFill>
                  <a:srgbClr val="61DAFB"/>
                </a:solidFill>
              </a:rPr>
              <a:t> </a:t>
            </a:r>
            <a:r>
              <a:rPr lang="pt-BR" altLang="pt-BR" sz="2400" dirty="0" err="1">
                <a:solidFill>
                  <a:srgbClr val="61DAFB"/>
                </a:solidFill>
              </a:rPr>
              <a:t>install</a:t>
            </a:r>
            <a:r>
              <a:rPr lang="pt-BR" altLang="pt-BR" sz="2400" dirty="0">
                <a:solidFill>
                  <a:srgbClr val="61DAFB"/>
                </a:solidFill>
              </a:rPr>
              <a:t> </a:t>
            </a:r>
            <a:r>
              <a:rPr lang="pt-BR" altLang="pt-BR" sz="2400" dirty="0" err="1">
                <a:solidFill>
                  <a:srgbClr val="61DAFB"/>
                </a:solidFill>
              </a:rPr>
              <a:t>styled-components</a:t>
            </a:r>
            <a:endParaRPr lang="pt-BR" altLang="pt-BR" sz="2400" dirty="0">
              <a:solidFill>
                <a:srgbClr val="61DAFB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2400" dirty="0" err="1">
                <a:solidFill>
                  <a:srgbClr val="61DAFB"/>
                </a:solidFill>
              </a:rPr>
              <a:t>npm</a:t>
            </a:r>
            <a:r>
              <a:rPr lang="en-US" sz="2400" dirty="0">
                <a:solidFill>
                  <a:srgbClr val="61DAFB"/>
                </a:solidFill>
              </a:rPr>
              <a:t> run dev</a:t>
            </a:r>
            <a:endParaRPr lang="en-US" sz="240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5285328D-6F26-2EE0-D7FB-E5B1BE86FF27}"/>
              </a:ext>
            </a:extLst>
          </p:cNvPr>
          <p:cNvSpPr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5384898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0232A"/>
          </a:solidFill>
          <a:ln w="12700">
            <a:solidFill>
              <a:srgbClr val="2023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365760" y="109728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1DAFB"/>
                </a:solidFill>
              </a:rPr>
              <a:t>O Que Vamos Criar Hoje?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303520" y="822960"/>
            <a:ext cx="3474720" cy="4023360"/>
          </a:xfrm>
          <a:prstGeom prst="rect">
            <a:avLst/>
          </a:prstGeom>
          <a:solidFill>
            <a:srgbClr val="EEEEEE"/>
          </a:solidFill>
          <a:ln w="12700">
            <a:solidFill>
              <a:srgbClr val="CCCCCC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5" name="Shape 3"/>
          <p:cNvSpPr/>
          <p:nvPr/>
        </p:nvSpPr>
        <p:spPr>
          <a:xfrm>
            <a:off x="5303520" y="822960"/>
            <a:ext cx="3474720" cy="1280160"/>
          </a:xfrm>
          <a:prstGeom prst="rect">
            <a:avLst/>
          </a:prstGeom>
          <a:solidFill>
            <a:srgbClr val="CB356B"/>
          </a:solidFill>
          <a:ln w="12700">
            <a:solidFill>
              <a:srgbClr val="CB356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Shape 4"/>
          <p:cNvSpPr/>
          <p:nvPr/>
        </p:nvSpPr>
        <p:spPr>
          <a:xfrm>
            <a:off x="6858000" y="822960"/>
            <a:ext cx="1920240" cy="1280160"/>
          </a:xfrm>
          <a:prstGeom prst="rect">
            <a:avLst/>
          </a:prstGeom>
          <a:solidFill>
            <a:srgbClr val="BD3F32">
              <a:alpha val="60000"/>
            </a:srgbClr>
          </a:solidFill>
          <a:ln w="12700">
            <a:solidFill>
              <a:srgbClr val="BD3F32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5440680" y="9601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Velejando com o React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40680" y="14173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</a:rPr>
              <a:t>sexta-feira, 5 de agosto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40680" y="2240280"/>
            <a:ext cx="32004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Text 8"/>
          <p:cNvSpPr/>
          <p:nvPr/>
        </p:nvSpPr>
        <p:spPr>
          <a:xfrm>
            <a:off x="5440680" y="224028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AAAAAA"/>
                </a:solidFill>
              </a:rPr>
              <a:t>Digite um novo conteúdo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40680" y="2834640"/>
            <a:ext cx="3200400" cy="411480"/>
          </a:xfrm>
          <a:prstGeom prst="rect">
            <a:avLst/>
          </a:prstGeom>
          <a:solidFill>
            <a:srgbClr val="EEEEEE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" name="Text 10"/>
          <p:cNvSpPr/>
          <p:nvPr/>
        </p:nvSpPr>
        <p:spPr>
          <a:xfrm>
            <a:off x="5440680" y="283464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20232A"/>
                </a:solidFill>
              </a:rPr>
              <a:t>Lavar a louça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440680" y="3337560"/>
            <a:ext cx="32004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Text 12"/>
          <p:cNvSpPr/>
          <p:nvPr/>
        </p:nvSpPr>
        <p:spPr>
          <a:xfrm>
            <a:off x="5440680" y="33375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888888"/>
                </a:solidFill>
              </a:rPr>
              <a:t>Tirar o lixo ~~strikethrough~~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57200" y="82296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0232A"/>
                </a:solidFill>
              </a:rPr>
              <a:t>Nossa Todo List vai ter: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365760" y="1417320"/>
            <a:ext cx="457200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7" name="Text 15"/>
          <p:cNvSpPr/>
          <p:nvPr/>
        </p:nvSpPr>
        <p:spPr>
          <a:xfrm>
            <a:off x="502920" y="141732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🎨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097280" y="14630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0232A"/>
                </a:solidFill>
              </a:rPr>
              <a:t>Título com degradê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97280" y="173736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F6E"/>
                </a:solidFill>
              </a:rPr>
              <a:t>Fundo colorido com data atual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65760" y="2167128"/>
            <a:ext cx="457200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1" name="Text 19"/>
          <p:cNvSpPr/>
          <p:nvPr/>
        </p:nvSpPr>
        <p:spPr>
          <a:xfrm>
            <a:off x="502920" y="2167128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📝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1097280" y="221284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0232A"/>
                </a:solidFill>
              </a:rPr>
              <a:t>Campo de entrada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97280" y="2487168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F6E"/>
                </a:solidFill>
              </a:rPr>
              <a:t>Digitar novas tarefas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5760" y="2916936"/>
            <a:ext cx="457200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5" name="Text 23"/>
          <p:cNvSpPr/>
          <p:nvPr/>
        </p:nvSpPr>
        <p:spPr>
          <a:xfrm>
            <a:off x="502920" y="2916936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✅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1097280" y="296265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0232A"/>
                </a:solidFill>
              </a:rPr>
              <a:t>Estado das tarefas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097280" y="3236976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F6E"/>
                </a:solidFill>
              </a:rPr>
              <a:t>Marcar como feito/não feito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65760" y="3666744"/>
            <a:ext cx="457200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9" name="Text 27"/>
          <p:cNvSpPr/>
          <p:nvPr/>
        </p:nvSpPr>
        <p:spPr>
          <a:xfrm>
            <a:off x="502920" y="3666744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📋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1097280" y="371246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0232A"/>
                </a:solidFill>
              </a:rPr>
              <a:t>Lista dinâmica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1097280" y="3986784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F6E"/>
                </a:solidFill>
              </a:rPr>
              <a:t>Adicionar e exibir tarefas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0232A"/>
          </a:solidFill>
          <a:ln w="12700">
            <a:solidFill>
              <a:srgbClr val="2023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365760" y="109728"/>
            <a:ext cx="1005840" cy="457200"/>
          </a:xfrm>
          <a:prstGeom prst="rect">
            <a:avLst/>
          </a:prstGeom>
          <a:solidFill>
            <a:srgbClr val="CB356B"/>
          </a:solidFill>
          <a:ln w="12700">
            <a:solidFill>
              <a:srgbClr val="CB356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365760" y="109728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Lesson 02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508760" y="109728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1DAFB"/>
                </a:solidFill>
              </a:rPr>
              <a:t>Criando Nova Aplicação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822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0232A"/>
                </a:solidFill>
              </a:rPr>
              <a:t>Vamos criar o projeto no Terminal: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261872"/>
            <a:ext cx="4023360" cy="3474720"/>
          </a:xfrm>
          <a:prstGeom prst="rect">
            <a:avLst/>
          </a:prstGeom>
          <a:solidFill>
            <a:srgbClr val="1E1E2E"/>
          </a:solidFill>
          <a:ln w="12700">
            <a:solidFill>
              <a:srgbClr val="2D2D3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594360" y="1353312"/>
            <a:ext cx="37490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300" dirty="0" err="1">
                <a:solidFill>
                  <a:srgbClr val="61DAFB"/>
                </a:solidFill>
              </a:rPr>
              <a:t>npm</a:t>
            </a:r>
            <a:r>
              <a:rPr lang="en-US" sz="1300" dirty="0">
                <a:solidFill>
                  <a:srgbClr val="61DAFB"/>
                </a:solidFill>
              </a:rPr>
              <a:t> create </a:t>
            </a:r>
            <a:r>
              <a:rPr lang="en-US" sz="1300" dirty="0" err="1">
                <a:solidFill>
                  <a:srgbClr val="61DAFB"/>
                </a:solidFill>
              </a:rPr>
              <a:t>vite@latest</a:t>
            </a:r>
            <a:r>
              <a:rPr lang="en-US" sz="1300" dirty="0">
                <a:solidFill>
                  <a:srgbClr val="61DAFB"/>
                </a:solidFill>
              </a:rPr>
              <a:t> unit3-react -- --template react</a:t>
            </a:r>
          </a:p>
          <a:p>
            <a:pPr marL="0" indent="0">
              <a:buNone/>
            </a:pPr>
            <a:endParaRPr lang="en-US" sz="1400" dirty="0"/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chemeClr val="accent3"/>
                </a:solidFill>
              </a:rPr>
              <a:t>cd </a:t>
            </a:r>
            <a:r>
              <a:rPr lang="en-US" sz="1400" dirty="0" err="1">
                <a:solidFill>
                  <a:schemeClr val="accent3"/>
                </a:solidFill>
              </a:rPr>
              <a:t>nome</a:t>
            </a:r>
            <a:r>
              <a:rPr lang="en-US" sz="1400" dirty="0">
                <a:solidFill>
                  <a:schemeClr val="accent3"/>
                </a:solidFill>
              </a:rPr>
              <a:t>-do-</a:t>
            </a:r>
            <a:r>
              <a:rPr lang="en-US" sz="1400" dirty="0" err="1">
                <a:solidFill>
                  <a:schemeClr val="accent3"/>
                </a:solidFill>
              </a:rPr>
              <a:t>projeto</a:t>
            </a:r>
            <a:endParaRPr lang="en-US" sz="1400" dirty="0">
              <a:solidFill>
                <a:schemeClr val="accent3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1400" dirty="0" err="1">
                <a:solidFill>
                  <a:schemeClr val="accent3"/>
                </a:solidFill>
              </a:rPr>
              <a:t>npm</a:t>
            </a:r>
            <a:r>
              <a:rPr lang="en-US" sz="1400" dirty="0">
                <a:solidFill>
                  <a:schemeClr val="accent3"/>
                </a:solidFill>
              </a:rPr>
              <a:t> install</a:t>
            </a:r>
          </a:p>
          <a:p>
            <a:pPr>
              <a:lnSpc>
                <a:spcPct val="150000"/>
              </a:lnSpc>
            </a:pPr>
            <a:r>
              <a:rPr lang="pt-BR" altLang="pt-BR" sz="1400" dirty="0" err="1">
                <a:solidFill>
                  <a:schemeClr val="accent3"/>
                </a:solidFill>
              </a:rPr>
              <a:t>npm</a:t>
            </a:r>
            <a:r>
              <a:rPr lang="pt-BR" altLang="pt-BR" sz="1400" dirty="0">
                <a:solidFill>
                  <a:schemeClr val="accent3"/>
                </a:solidFill>
              </a:rPr>
              <a:t> </a:t>
            </a:r>
            <a:r>
              <a:rPr lang="pt-BR" altLang="pt-BR" sz="1400" dirty="0" err="1">
                <a:solidFill>
                  <a:schemeClr val="accent3"/>
                </a:solidFill>
              </a:rPr>
              <a:t>install</a:t>
            </a:r>
            <a:r>
              <a:rPr lang="pt-BR" altLang="pt-BR" sz="1400" dirty="0">
                <a:solidFill>
                  <a:schemeClr val="accent3"/>
                </a:solidFill>
              </a:rPr>
              <a:t> </a:t>
            </a:r>
            <a:r>
              <a:rPr lang="pt-BR" altLang="pt-BR" sz="1400" dirty="0" err="1">
                <a:solidFill>
                  <a:schemeClr val="accent3"/>
                </a:solidFill>
              </a:rPr>
              <a:t>styled-components</a:t>
            </a:r>
            <a:endParaRPr lang="pt-BR" altLang="pt-BR" sz="1400" dirty="0">
              <a:solidFill>
                <a:schemeClr val="accent3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1400" dirty="0" err="1">
                <a:solidFill>
                  <a:schemeClr val="accent3"/>
                </a:solidFill>
              </a:rPr>
              <a:t>npm</a:t>
            </a:r>
            <a:r>
              <a:rPr lang="en-US" sz="1400" dirty="0">
                <a:solidFill>
                  <a:schemeClr val="accent3"/>
                </a:solidFill>
              </a:rPr>
              <a:t> run dev</a:t>
            </a:r>
          </a:p>
        </p:txBody>
      </p:sp>
      <p:sp>
        <p:nvSpPr>
          <p:cNvPr id="9" name="Text 7"/>
          <p:cNvSpPr/>
          <p:nvPr/>
        </p:nvSpPr>
        <p:spPr>
          <a:xfrm>
            <a:off x="4754880" y="82296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0232A"/>
                </a:solidFill>
              </a:rPr>
              <a:t>O que cada comando faz: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754880" y="1298448"/>
            <a:ext cx="39319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/>
          <p:nvPr/>
        </p:nvSpPr>
        <p:spPr>
          <a:xfrm>
            <a:off x="4937760" y="135331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B35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Desktop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937760" y="1591056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F6E"/>
                </a:solidFill>
              </a:rPr>
              <a:t>Entra na área de trabalho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54880" y="1956816"/>
            <a:ext cx="39319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Text 12"/>
          <p:cNvSpPr/>
          <p:nvPr/>
        </p:nvSpPr>
        <p:spPr>
          <a:xfrm>
            <a:off x="4937760" y="20116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B35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create vite@latest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937760" y="2249424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F6E"/>
                </a:solidFill>
              </a:rPr>
              <a:t>Cria projeto React moderno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754880" y="2615184"/>
            <a:ext cx="39319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Text 15"/>
          <p:cNvSpPr/>
          <p:nvPr/>
        </p:nvSpPr>
        <p:spPr>
          <a:xfrm>
            <a:off x="4937760" y="267004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b="1" dirty="0">
                <a:solidFill>
                  <a:srgbClr val="CB35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</a:t>
            </a:r>
            <a:r>
              <a:rPr lang="en-US" sz="1000" b="1" dirty="0" err="1">
                <a:solidFill>
                  <a:srgbClr val="CB356B"/>
                </a:solidFill>
                <a:latin typeface="Consolas" pitchFamily="34" charset="0"/>
              </a:rPr>
              <a:t>nome</a:t>
            </a:r>
            <a:r>
              <a:rPr lang="en-US" sz="1000" b="1" dirty="0">
                <a:solidFill>
                  <a:srgbClr val="CB356B"/>
                </a:solidFill>
                <a:latin typeface="Consolas" pitchFamily="34" charset="0"/>
              </a:rPr>
              <a:t>-do-</a:t>
            </a:r>
            <a:r>
              <a:rPr lang="en-US" sz="1000" b="1" dirty="0" err="1">
                <a:solidFill>
                  <a:srgbClr val="CB356B"/>
                </a:solidFill>
                <a:latin typeface="Consolas" pitchFamily="34" charset="0"/>
              </a:rPr>
              <a:t>projeto</a:t>
            </a:r>
            <a:endParaRPr lang="en-US" sz="1000" b="1" dirty="0">
              <a:solidFill>
                <a:srgbClr val="CB356B"/>
              </a:solidFill>
              <a:latin typeface="Consolas" pitchFamily="34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4937760" y="290779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F6E"/>
                </a:solidFill>
              </a:rPr>
              <a:t>Entra na pasta do projeto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54880" y="3273552"/>
            <a:ext cx="39319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0" name="Text 18"/>
          <p:cNvSpPr/>
          <p:nvPr/>
        </p:nvSpPr>
        <p:spPr>
          <a:xfrm>
            <a:off x="4937760" y="3328416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B35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install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937760" y="356616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F6E"/>
                </a:solidFill>
              </a:rPr>
              <a:t>Instala dependências base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54880" y="3931920"/>
            <a:ext cx="39319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3" name="Text 21"/>
          <p:cNvSpPr/>
          <p:nvPr/>
        </p:nvSpPr>
        <p:spPr>
          <a:xfrm>
            <a:off x="4937760" y="3986784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B35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install styled-components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937760" y="4224528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F6E"/>
                </a:solidFill>
              </a:rPr>
              <a:t>Instala </a:t>
            </a:r>
            <a:r>
              <a:rPr lang="en-US" sz="1000" dirty="0" err="1">
                <a:solidFill>
                  <a:srgbClr val="555F6E"/>
                </a:solidFill>
              </a:rPr>
              <a:t>estilização</a:t>
            </a:r>
            <a:r>
              <a:rPr lang="en-US" sz="1000" dirty="0">
                <a:solidFill>
                  <a:srgbClr val="555F6E"/>
                </a:solidFill>
              </a:rPr>
              <a:t> </a:t>
            </a:r>
            <a:r>
              <a:rPr lang="en-US" sz="1000" dirty="0" err="1">
                <a:solidFill>
                  <a:srgbClr val="555F6E"/>
                </a:solidFill>
              </a:rPr>
              <a:t>dinâmica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solidFill>
            <a:srgbClr val="FFF3CD"/>
          </a:solidFill>
          <a:ln w="12700">
            <a:solidFill>
              <a:srgbClr val="FFEAA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6" name="Text 24"/>
          <p:cNvSpPr/>
          <p:nvPr/>
        </p:nvSpPr>
        <p:spPr>
          <a:xfrm>
            <a:off x="548640" y="47091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56404"/>
                </a:solidFill>
              </a:rPr>
              <a:t>💡 Depois: abra o VSCode com o comando   code .   dentro da pasta do projeto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0232A"/>
          </a:solidFill>
          <a:ln w="12700">
            <a:solidFill>
              <a:srgbClr val="2023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365760" y="109728"/>
            <a:ext cx="1005840" cy="457200"/>
          </a:xfrm>
          <a:prstGeom prst="rect">
            <a:avLst/>
          </a:prstGeom>
          <a:solidFill>
            <a:srgbClr val="CB356B"/>
          </a:solidFill>
          <a:ln w="12700">
            <a:solidFill>
              <a:srgbClr val="CB356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365760" y="109728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Lesson 02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508760" y="109728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1DAFB"/>
                </a:solidFill>
              </a:rPr>
              <a:t>Arquivos Base: HTML e CSS Global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80467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023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index.html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161288"/>
            <a:ext cx="4206240" cy="3794760"/>
          </a:xfrm>
          <a:prstGeom prst="rect">
            <a:avLst/>
          </a:prstGeom>
          <a:solidFill>
            <a:srgbClr val="1E1E2E"/>
          </a:solidFill>
          <a:ln w="12700">
            <a:solidFill>
              <a:srgbClr val="2D2D3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594360" y="1252728"/>
            <a:ext cx="393192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&lt;!DOCTYPE html&gt;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&lt;html&gt;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&lt;head&gt;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&lt;meta charset="UTF-8"/&gt;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&lt;meta name="viewport“ content="width=device-width,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initial-scale=1.0"/&gt;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&lt;title&gt;Velejando com o React&lt;/title&gt;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&lt;/head&gt;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&lt;body&gt;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&lt;div id="root"&gt;&lt;/div&gt;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&lt;script type="module"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src="/src/main.jsx"&gt;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&lt;/script&gt;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&lt;/body&gt;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&lt;/html&gt;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937760" y="80467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023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src/index.css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937760" y="1161288"/>
            <a:ext cx="3840480" cy="2377440"/>
          </a:xfrm>
          <a:prstGeom prst="rect">
            <a:avLst/>
          </a:prstGeom>
          <a:solidFill>
            <a:srgbClr val="1E1E2E"/>
          </a:solidFill>
          <a:ln w="12700">
            <a:solidFill>
              <a:srgbClr val="2D2D3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/>
          <p:nvPr/>
        </p:nvSpPr>
        <p:spPr>
          <a:xfrm>
            <a:off x="5074920" y="1252728"/>
            <a:ext cx="35661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:root 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--page-max-width: 720px;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body 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background: #eee;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#222;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font-family: "Arial", sans-serif;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font-size: 16px;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margin: 0 auto;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width: 100%;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max-width: var(--page-max-width);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padding: 0 16px;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937760" y="365760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0232A"/>
                </a:solidFill>
              </a:rPr>
              <a:t>O que cada parte faz: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937760" y="4005072"/>
            <a:ext cx="384048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Text 12"/>
          <p:cNvSpPr/>
          <p:nvPr/>
        </p:nvSpPr>
        <p:spPr>
          <a:xfrm>
            <a:off x="5029200" y="400507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0232A"/>
                </a:solidFill>
              </a:rPr>
              <a:t>:root { } → define variaveis CSS globais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937760" y="4279392"/>
            <a:ext cx="3840480" cy="256032"/>
          </a:xfrm>
          <a:prstGeom prst="rect">
            <a:avLst/>
          </a:prstGeom>
          <a:solidFill>
            <a:srgbClr val="F8F9FA"/>
          </a:solidFill>
          <a:ln w="12700">
            <a:solidFill>
              <a:srgbClr val="E8ECF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Text 14"/>
          <p:cNvSpPr/>
          <p:nvPr/>
        </p:nvSpPr>
        <p:spPr>
          <a:xfrm>
            <a:off x="5029200" y="427939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0232A"/>
                </a:solidFill>
              </a:rPr>
              <a:t>--page-max-width → variavel reutilizavel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937760" y="4553712"/>
            <a:ext cx="384048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8" name="Text 16"/>
          <p:cNvSpPr/>
          <p:nvPr/>
        </p:nvSpPr>
        <p:spPr>
          <a:xfrm>
            <a:off x="5029200" y="455371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0232A"/>
                </a:solidFill>
              </a:rPr>
              <a:t>max-width + width: 100% → responsivo e limitado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937760" y="4828032"/>
            <a:ext cx="3840480" cy="256032"/>
          </a:xfrm>
          <a:prstGeom prst="rect">
            <a:avLst/>
          </a:prstGeom>
          <a:solidFill>
            <a:srgbClr val="F8F9FA"/>
          </a:solidFill>
          <a:ln w="12700">
            <a:solidFill>
              <a:srgbClr val="E8ECF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0" name="Text 18"/>
          <p:cNvSpPr/>
          <p:nvPr/>
        </p:nvSpPr>
        <p:spPr>
          <a:xfrm>
            <a:off x="5029200" y="482803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0232A"/>
                </a:solidFill>
              </a:rPr>
              <a:t>padding: 0 16px → respira em telas pequenas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57200" y="5093208"/>
            <a:ext cx="8229600" cy="347472"/>
          </a:xfrm>
          <a:prstGeom prst="rect">
            <a:avLst/>
          </a:prstGeom>
          <a:solidFill>
            <a:srgbClr val="20232A"/>
          </a:solidFill>
          <a:ln w="12700">
            <a:solidFill>
              <a:srgbClr val="2023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2" name="Text 20"/>
          <p:cNvSpPr/>
          <p:nvPr/>
        </p:nvSpPr>
        <p:spPr>
          <a:xfrm>
            <a:off x="548640" y="5093208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1DAFB"/>
                </a:solidFill>
              </a:rPr>
              <a:t>CSS global em src/index.css, importado no main.jsx (proximo slide) — sem link no HTML!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0232A"/>
          </a:solidFill>
          <a:ln w="12700">
            <a:solidFill>
              <a:srgbClr val="2023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365760" y="109728"/>
            <a:ext cx="1005840" cy="457200"/>
          </a:xfrm>
          <a:prstGeom prst="rect">
            <a:avLst/>
          </a:prstGeom>
          <a:solidFill>
            <a:srgbClr val="CB356B"/>
          </a:solidFill>
          <a:ln w="12700">
            <a:solidFill>
              <a:srgbClr val="CB356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365760" y="109728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Lesson 03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508760" y="109728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1DAFB"/>
                </a:solidFill>
              </a:rPr>
              <a:t>Configurando: index.css e main.jsx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365760" y="80467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023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src/index.css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65760" y="1161288"/>
            <a:ext cx="4297680" cy="3657600"/>
          </a:xfrm>
          <a:prstGeom prst="rect">
            <a:avLst/>
          </a:prstGeom>
          <a:solidFill>
            <a:srgbClr val="1E1E2E"/>
          </a:solidFill>
          <a:ln w="12700">
            <a:solidFill>
              <a:srgbClr val="2D2D3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502920" y="1252728"/>
            <a:ext cx="40233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:root 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--page-max-width: 720px;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body 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background: #eee;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#222;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font-family: "Arial", sans-serif;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font-size: 16px;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margin: 0 auto;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width: 100%;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max-width: var(--page-max-width);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padding: 0 16px;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846320" y="804672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023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src/main.jsx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846320" y="1161288"/>
            <a:ext cx="4023360" cy="3383280"/>
          </a:xfrm>
          <a:prstGeom prst="rect">
            <a:avLst/>
          </a:prstGeom>
          <a:solidFill>
            <a:srgbClr val="1E1E2E"/>
          </a:solidFill>
          <a:ln w="12700">
            <a:solidFill>
              <a:srgbClr val="2D2D3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/>
          <p:nvPr/>
        </p:nvSpPr>
        <p:spPr>
          <a:xfrm>
            <a:off x="4983480" y="1252728"/>
            <a:ext cx="37490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{ StrictMode } from "react"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{ createRoot } from "react-dom/client"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"./index.css"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{App} from "./</a:t>
            </a:r>
            <a:r>
              <a:rPr lang="en-US" sz="1000" dirty="0" err="1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App.jsx</a:t>
            </a: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 err="1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createRoot</a:t>
            </a: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000" dirty="0" err="1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document.getElementById</a:t>
            </a: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("root")).render(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&lt;StrictMode&gt;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&lt;App /&gt;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&lt;/StrictMode&gt;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846320" y="4663440"/>
            <a:ext cx="4023360" cy="548640"/>
          </a:xfrm>
          <a:prstGeom prst="rect">
            <a:avLst/>
          </a:prstGeom>
          <a:solidFill>
            <a:srgbClr val="FFF3CD"/>
          </a:solidFill>
          <a:ln w="12700">
            <a:solidFill>
              <a:srgbClr val="FFEAA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" name="Text 11"/>
          <p:cNvSpPr/>
          <p:nvPr/>
        </p:nvSpPr>
        <p:spPr>
          <a:xfrm>
            <a:off x="4937760" y="466344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56404"/>
                </a:solidFill>
              </a:rPr>
              <a:t>StrictMode: modo especial que ativa alertas extras durante o desenvolvimento para ajudar a encontrar erros!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5760" y="4910328"/>
            <a:ext cx="4297680" cy="411480"/>
          </a:xfrm>
          <a:prstGeom prst="rect">
            <a:avLst/>
          </a:prstGeom>
          <a:solidFill>
            <a:srgbClr val="20232A"/>
          </a:solidFill>
          <a:ln w="12700">
            <a:solidFill>
              <a:srgbClr val="2023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" name="Text 13"/>
          <p:cNvSpPr/>
          <p:nvPr/>
        </p:nvSpPr>
        <p:spPr>
          <a:xfrm>
            <a:off x="457200" y="4910328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1DAFB"/>
                </a:solidFill>
              </a:rPr>
              <a:t>--page-max-width: variavel CSS (custom property) — boa pratica para reutilizar valores!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0232A"/>
          </a:solidFill>
          <a:ln w="12700">
            <a:solidFill>
              <a:srgbClr val="2023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365760" y="109728"/>
            <a:ext cx="1005840" cy="457200"/>
          </a:xfrm>
          <a:prstGeom prst="rect">
            <a:avLst/>
          </a:prstGeom>
          <a:solidFill>
            <a:srgbClr val="CB356B"/>
          </a:solidFill>
          <a:ln w="12700">
            <a:solidFill>
              <a:srgbClr val="CB356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365760" y="109728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Lesson 03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508760" y="109728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 err="1">
                <a:solidFill>
                  <a:srgbClr val="61DAFB"/>
                </a:solidFill>
              </a:rPr>
              <a:t>Criando</a:t>
            </a:r>
            <a:r>
              <a:rPr lang="en-US" sz="1800" b="1" dirty="0">
                <a:solidFill>
                  <a:srgbClr val="61DAFB"/>
                </a:solidFill>
              </a:rPr>
              <a:t> o </a:t>
            </a:r>
            <a:r>
              <a:rPr lang="en-US" sz="1800" b="1" dirty="0" err="1">
                <a:solidFill>
                  <a:srgbClr val="61DAFB"/>
                </a:solidFill>
              </a:rPr>
              <a:t>Inicio.jsx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365760" y="80467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023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src/</a:t>
            </a:r>
            <a:r>
              <a:rPr lang="en-US" sz="1300" b="1" dirty="0" err="1">
                <a:solidFill>
                  <a:srgbClr val="2023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Inicio.jsx</a:t>
            </a:r>
            <a:r>
              <a:rPr lang="en-US" sz="1300" b="1" dirty="0">
                <a:solidFill>
                  <a:srgbClr val="2023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(componente inicial)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65760" y="1161288"/>
            <a:ext cx="4572000" cy="1828800"/>
          </a:xfrm>
          <a:prstGeom prst="rect">
            <a:avLst/>
          </a:prstGeom>
          <a:solidFill>
            <a:srgbClr val="1E1E2E"/>
          </a:solidFill>
          <a:ln w="12700">
            <a:solidFill>
              <a:srgbClr val="2D2D3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502920" y="1252728"/>
            <a:ext cx="42976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export function Inicio() {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&lt;&gt;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Teste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&lt;/&gt;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5760" y="3090672"/>
            <a:ext cx="4572000" cy="457200"/>
          </a:xfrm>
          <a:prstGeom prst="rect">
            <a:avLst/>
          </a:prstGeom>
          <a:solidFill>
            <a:srgbClr val="D4EDDA"/>
          </a:solidFill>
          <a:ln w="12700">
            <a:solidFill>
              <a:srgbClr val="C3E6C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Text 8"/>
          <p:cNvSpPr/>
          <p:nvPr/>
        </p:nvSpPr>
        <p:spPr>
          <a:xfrm>
            <a:off x="457200" y="3090672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dirty="0">
                <a:solidFill>
                  <a:srgbClr val="155724"/>
                </a:solidFill>
              </a:rPr>
              <a:t>Vai até main.jsx e troca &lt;App /&gt;  pelo &lt;Inicio / &gt;</a:t>
            </a:r>
            <a:endParaRPr lang="en-US" sz="1400" b="1" dirty="0"/>
          </a:p>
        </p:txBody>
      </p:sp>
      <p:sp>
        <p:nvSpPr>
          <p:cNvPr id="11" name="Text 9"/>
          <p:cNvSpPr/>
          <p:nvPr/>
        </p:nvSpPr>
        <p:spPr>
          <a:xfrm>
            <a:off x="365760" y="37033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0232A"/>
                </a:solidFill>
              </a:rPr>
              <a:t>Vamos </a:t>
            </a:r>
            <a:r>
              <a:rPr lang="en-US" sz="1300" b="1" dirty="0" err="1">
                <a:solidFill>
                  <a:srgbClr val="20232A"/>
                </a:solidFill>
              </a:rPr>
              <a:t>testar</a:t>
            </a:r>
            <a:r>
              <a:rPr lang="en-US" sz="1300" b="1" dirty="0">
                <a:solidFill>
                  <a:srgbClr val="20232A"/>
                </a:solidFill>
              </a:rPr>
              <a:t> no </a:t>
            </a:r>
            <a:r>
              <a:rPr lang="en-US" sz="1300" b="1" dirty="0" err="1">
                <a:solidFill>
                  <a:srgbClr val="20232A"/>
                </a:solidFill>
              </a:rPr>
              <a:t>navegador</a:t>
            </a:r>
            <a:r>
              <a:rPr lang="en-US" sz="1300" b="1" dirty="0">
                <a:solidFill>
                  <a:srgbClr val="20232A"/>
                </a:solidFill>
              </a:rPr>
              <a:t>: </a:t>
            </a:r>
            <a:r>
              <a:rPr lang="en-US" sz="1300" b="1" dirty="0" err="1">
                <a:solidFill>
                  <a:srgbClr val="20232A"/>
                </a:solidFill>
              </a:rPr>
              <a:t>npm</a:t>
            </a:r>
            <a:r>
              <a:rPr lang="en-US" sz="1300" b="1" dirty="0">
                <a:solidFill>
                  <a:srgbClr val="20232A"/>
                </a:solidFill>
              </a:rPr>
              <a:t> run dev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4069080"/>
            <a:ext cx="4572000" cy="1005840"/>
          </a:xfrm>
          <a:prstGeom prst="rect">
            <a:avLst/>
          </a:prstGeom>
          <a:solidFill>
            <a:srgbClr val="1E1E2E"/>
          </a:solidFill>
          <a:ln w="12700">
            <a:solidFill>
              <a:srgbClr val="2D2D3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" name="Text 11"/>
          <p:cNvSpPr/>
          <p:nvPr/>
        </p:nvSpPr>
        <p:spPr>
          <a:xfrm>
            <a:off x="502920" y="4160520"/>
            <a:ext cx="4297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dev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Abre em: http://localhost:5173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212080" y="80467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0232A"/>
                </a:solidFill>
              </a:rPr>
              <a:t>Como tudo se conecta: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212080" y="1234440"/>
            <a:ext cx="36576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Text 14"/>
          <p:cNvSpPr/>
          <p:nvPr/>
        </p:nvSpPr>
        <p:spPr>
          <a:xfrm>
            <a:off x="5349240" y="1289304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0232A"/>
                </a:solidFill>
              </a:rPr>
              <a:t>📄  index.html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349240" y="1572768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F6E"/>
                </a:solidFill>
              </a:rPr>
              <a:t>Tem o &lt;div id=root&gt; onde tudo vai aparecer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212080" y="2194560"/>
            <a:ext cx="36576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9" name="Text 17"/>
          <p:cNvSpPr/>
          <p:nvPr/>
        </p:nvSpPr>
        <p:spPr>
          <a:xfrm>
            <a:off x="5349240" y="2249424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0232A"/>
                </a:solidFill>
              </a:rPr>
              <a:t>⚡  main.jsx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349240" y="2532888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F6E"/>
                </a:solidFill>
              </a:rPr>
              <a:t>Ponto de entrada — conecta o React ao HTML e carrega o CSS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212080" y="3154680"/>
            <a:ext cx="36576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2" name="Text 20"/>
          <p:cNvSpPr/>
          <p:nvPr/>
        </p:nvSpPr>
        <p:spPr>
          <a:xfrm>
            <a:off x="5349240" y="3209544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0232A"/>
                </a:solidFill>
              </a:rPr>
              <a:t>🛡️  StrictMode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349240" y="3493008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F6E"/>
                </a:solidFill>
              </a:rPr>
              <a:t>Envolve o app para mostrar alertas de problemas no console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212080" y="4114800"/>
            <a:ext cx="36576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5" name="Text 23"/>
          <p:cNvSpPr/>
          <p:nvPr/>
        </p:nvSpPr>
        <p:spPr>
          <a:xfrm>
            <a:off x="5349240" y="4169664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0232A"/>
                </a:solidFill>
              </a:rPr>
              <a:t>🏠  </a:t>
            </a:r>
            <a:r>
              <a:rPr lang="en-US" sz="1200" b="1" dirty="0" err="1">
                <a:solidFill>
                  <a:srgbClr val="20232A"/>
                </a:solidFill>
              </a:rPr>
              <a:t>Inicio.jsx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349240" y="4453128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F6E"/>
                </a:solidFill>
              </a:rPr>
              <a:t>Primeiro componente — a 'pagina' da nossa aplicacao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0232A"/>
          </a:solidFill>
          <a:ln w="12700">
            <a:solidFill>
              <a:srgbClr val="2023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365760" y="109728"/>
            <a:ext cx="1005840" cy="457200"/>
          </a:xfrm>
          <a:prstGeom prst="rect">
            <a:avLst/>
          </a:prstGeom>
          <a:solidFill>
            <a:srgbClr val="CB356B"/>
          </a:solidFill>
          <a:ln w="12700">
            <a:solidFill>
              <a:srgbClr val="CB356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365760" y="109728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Lesson 04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508760" y="109728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1DAFB"/>
                </a:solidFill>
              </a:rPr>
              <a:t>Componente Título com Styled Components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80467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023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src/components/Titulo.jsx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161288"/>
            <a:ext cx="4572000" cy="3982212"/>
          </a:xfrm>
          <a:prstGeom prst="rect">
            <a:avLst/>
          </a:prstGeom>
          <a:solidFill>
            <a:srgbClr val="1E1E2E"/>
          </a:solidFill>
          <a:ln w="12700">
            <a:solidFill>
              <a:srgbClr val="2D2D3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594360" y="1252728"/>
            <a:ext cx="4297680" cy="3890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styled from "styled-components"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ModeloTitulo = styled.div`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background: linear-gradient(45deg, #cb356b, #bd3f32);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white;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padding: 32px;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`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TituloNome = styled.div`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font-size: 2rem;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margin-top: 96px;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`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TituloData = styled.div`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font-size: 1.2rem;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margin-top: 8px;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`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export function Titulo({ nome }) 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&lt;ModeloTitulo&gt;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&lt;TituloNome&gt;{ nome }&lt;/TituloNome&gt;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&lt;/ModeloTitulo&gt;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303520" y="822960"/>
            <a:ext cx="3474720" cy="1645920"/>
          </a:xfrm>
          <a:prstGeom prst="rect">
            <a:avLst/>
          </a:prstGeom>
          <a:solidFill>
            <a:srgbClr val="CB356B"/>
          </a:solidFill>
          <a:ln w="12700">
            <a:solidFill>
              <a:srgbClr val="CB356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Shape 8"/>
          <p:cNvSpPr/>
          <p:nvPr/>
        </p:nvSpPr>
        <p:spPr>
          <a:xfrm>
            <a:off x="6400800" y="822960"/>
            <a:ext cx="2377440" cy="1645920"/>
          </a:xfrm>
          <a:prstGeom prst="rect">
            <a:avLst/>
          </a:prstGeom>
          <a:solidFill>
            <a:srgbClr val="BD3F32">
              <a:alpha val="50000"/>
            </a:srgbClr>
          </a:solidFill>
          <a:ln w="12700">
            <a:solidFill>
              <a:srgbClr val="BD3F32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/>
          <p:nvPr/>
        </p:nvSpPr>
        <p:spPr>
          <a:xfrm>
            <a:off x="5394960" y="91440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Velejando com o React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394960" y="144475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</a:rPr>
              <a:t>sexta-feira, 5 de agosto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303520" y="254203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55F6E"/>
                </a:solidFill>
              </a:rPr>
              <a:t>Prévia visual →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303520" y="288036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0232A"/>
                </a:solidFill>
              </a:rPr>
              <a:t>O que é Styled Components?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303520" y="3246120"/>
            <a:ext cx="3474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Text 14"/>
          <p:cNvSpPr/>
          <p:nvPr/>
        </p:nvSpPr>
        <p:spPr>
          <a:xfrm>
            <a:off x="5440680" y="324612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0232A"/>
                </a:solidFill>
              </a:rPr>
              <a:t>✍️  CSS escrito dentro do JavaScript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303520" y="3685032"/>
            <a:ext cx="3474720" cy="365760"/>
          </a:xfrm>
          <a:prstGeom prst="rect">
            <a:avLst/>
          </a:prstGeom>
          <a:solidFill>
            <a:srgbClr val="F8F9FA"/>
          </a:solidFill>
          <a:ln w="12700">
            <a:solidFill>
              <a:srgbClr val="E8ECF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8" name="Text 16"/>
          <p:cNvSpPr/>
          <p:nvPr/>
        </p:nvSpPr>
        <p:spPr>
          <a:xfrm>
            <a:off x="5440680" y="368503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0232A"/>
                </a:solidFill>
              </a:rPr>
              <a:t>🎯  Cada componente tem seu próprio estilo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303520" y="4123944"/>
            <a:ext cx="3474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0" name="Text 18"/>
          <p:cNvSpPr/>
          <p:nvPr/>
        </p:nvSpPr>
        <p:spPr>
          <a:xfrm>
            <a:off x="5440680" y="4123944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0232A"/>
                </a:solidFill>
              </a:rPr>
              <a:t>💅  styled.div`...` cria um componente estilizado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303520" y="4562856"/>
            <a:ext cx="3474720" cy="365760"/>
          </a:xfrm>
          <a:prstGeom prst="rect">
            <a:avLst/>
          </a:prstGeom>
          <a:solidFill>
            <a:srgbClr val="F8F9FA"/>
          </a:solidFill>
          <a:ln w="12700">
            <a:solidFill>
              <a:srgbClr val="E8ECF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2" name="Text 20"/>
          <p:cNvSpPr/>
          <p:nvPr/>
        </p:nvSpPr>
        <p:spPr>
          <a:xfrm>
            <a:off x="5440680" y="4562856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0232A"/>
                </a:solidFill>
              </a:rPr>
              <a:t>🌈  linear-gradient() faz o degradê de cores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0232A"/>
          </a:solidFill>
          <a:ln w="12700">
            <a:solidFill>
              <a:srgbClr val="2023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365760" y="109728"/>
            <a:ext cx="1005840" cy="457200"/>
          </a:xfrm>
          <a:prstGeom prst="rect">
            <a:avLst/>
          </a:prstGeom>
          <a:solidFill>
            <a:srgbClr val="CB356B"/>
          </a:solidFill>
          <a:ln w="12700">
            <a:solidFill>
              <a:srgbClr val="CB356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365760" y="109728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Lesson 05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508760" y="109728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1DAFB"/>
                </a:solidFill>
              </a:rPr>
              <a:t>Formatando a Data com JavaScript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804672"/>
            <a:ext cx="4572000" cy="4206240"/>
          </a:xfrm>
          <a:prstGeom prst="rect">
            <a:avLst/>
          </a:prstGeom>
          <a:solidFill>
            <a:srgbClr val="1E1E2E"/>
          </a:solidFill>
          <a:ln w="12700">
            <a:solidFill>
              <a:srgbClr val="2D2D3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594360" y="896112"/>
            <a:ext cx="4297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Dentro de Titulo.jsx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dataHoje = new Date()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→ Set Aug 05 2022 16:00:00 GMT-0300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dataFormato = 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weekday: "long",   // "sexta-feira"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day: "numeric",    // "5"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month: "long"      // "agosto"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dataFinal = dataHoje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.toLocaleDateString("pt-br", dataFormato)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→ "sexta-feira, 5 de agosto"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No retorno do componente: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 &lt;ModeloTitulo&gt;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&lt;TituloNome&gt;{nome}&lt;/TituloNome&gt;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&lt;TituloData&gt;{dataFinal}&lt;/TituloData&gt;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&lt;/ModeloTitulo&gt;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03520" y="80467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0232A"/>
                </a:solidFill>
              </a:rPr>
              <a:t>Como a data é transformada: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303520" y="1261872"/>
            <a:ext cx="3566160" cy="777240"/>
          </a:xfrm>
          <a:prstGeom prst="rect">
            <a:avLst/>
          </a:prstGeom>
          <a:solidFill>
            <a:srgbClr val="FFF3CD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Shape 8"/>
          <p:cNvSpPr/>
          <p:nvPr/>
        </p:nvSpPr>
        <p:spPr>
          <a:xfrm>
            <a:off x="5440680" y="1353312"/>
            <a:ext cx="365760" cy="365760"/>
          </a:xfrm>
          <a:prstGeom prst="ellipse">
            <a:avLst/>
          </a:prstGeom>
          <a:solidFill>
            <a:srgbClr val="20232A"/>
          </a:solidFill>
          <a:ln w="12700">
            <a:solidFill>
              <a:srgbClr val="2023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/>
          <p:nvPr/>
        </p:nvSpPr>
        <p:spPr>
          <a:xfrm>
            <a:off x="5440680" y="13533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897880" y="129844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023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 Date()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897880" y="159105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F6E"/>
                </a:solidFill>
              </a:rPr>
              <a:t>→ Set Aug 05 2022...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303520" y="2176272"/>
            <a:ext cx="3566160" cy="777240"/>
          </a:xfrm>
          <a:prstGeom prst="rect">
            <a:avLst/>
          </a:prstGeom>
          <a:solidFill>
            <a:srgbClr val="D1ECF1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" name="Shape 13"/>
          <p:cNvSpPr/>
          <p:nvPr/>
        </p:nvSpPr>
        <p:spPr>
          <a:xfrm>
            <a:off x="5440680" y="2267712"/>
            <a:ext cx="365760" cy="365760"/>
          </a:xfrm>
          <a:prstGeom prst="ellipse">
            <a:avLst/>
          </a:prstGeom>
          <a:solidFill>
            <a:srgbClr val="20232A"/>
          </a:solidFill>
          <a:ln w="12700">
            <a:solidFill>
              <a:srgbClr val="2023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Text 14"/>
          <p:cNvSpPr/>
          <p:nvPr/>
        </p:nvSpPr>
        <p:spPr>
          <a:xfrm>
            <a:off x="5440680" y="22677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897880" y="221284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023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dataFormato = {...}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897880" y="250545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F6E"/>
                </a:solidFill>
              </a:rPr>
              <a:t>→ Define o formato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303520" y="3090672"/>
            <a:ext cx="3566160" cy="777240"/>
          </a:xfrm>
          <a:prstGeom prst="rect">
            <a:avLst/>
          </a:prstGeom>
          <a:solidFill>
            <a:srgbClr val="D4EDDA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0" name="Shape 18"/>
          <p:cNvSpPr/>
          <p:nvPr/>
        </p:nvSpPr>
        <p:spPr>
          <a:xfrm>
            <a:off x="5440680" y="3182112"/>
            <a:ext cx="365760" cy="365760"/>
          </a:xfrm>
          <a:prstGeom prst="ellipse">
            <a:avLst/>
          </a:prstGeom>
          <a:solidFill>
            <a:srgbClr val="20232A"/>
          </a:solidFill>
          <a:ln w="12700">
            <a:solidFill>
              <a:srgbClr val="2023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1" name="Text 19"/>
          <p:cNvSpPr/>
          <p:nvPr/>
        </p:nvSpPr>
        <p:spPr>
          <a:xfrm>
            <a:off x="5440680" y="31821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897880" y="312724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023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toLocaleDateString()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897880" y="341985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F6E"/>
                </a:solidFill>
              </a:rPr>
              <a:t>→ sexta-feira, 5 de agosto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303520" y="406908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0232A"/>
                </a:solidFill>
              </a:rPr>
              <a:t>No </a:t>
            </a:r>
            <a:r>
              <a:rPr lang="en-US" sz="1100" b="1" dirty="0" err="1">
                <a:solidFill>
                  <a:srgbClr val="20232A"/>
                </a:solidFill>
              </a:rPr>
              <a:t>Inicio.jsx</a:t>
            </a:r>
            <a:r>
              <a:rPr lang="en-US" sz="1100" b="1" dirty="0">
                <a:solidFill>
                  <a:srgbClr val="20232A"/>
                </a:solidFill>
              </a:rPr>
              <a:t>, use assim: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303520" y="4389120"/>
            <a:ext cx="3566160" cy="411480"/>
          </a:xfrm>
          <a:prstGeom prst="rect">
            <a:avLst/>
          </a:prstGeom>
          <a:solidFill>
            <a:srgbClr val="1E1E2E"/>
          </a:solidFill>
          <a:ln w="12700">
            <a:solidFill>
              <a:srgbClr val="2D2D3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6" name="Text 24"/>
          <p:cNvSpPr/>
          <p:nvPr/>
        </p:nvSpPr>
        <p:spPr>
          <a:xfrm>
            <a:off x="5440680" y="448056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&lt;Titulo nome="Velejando com o React"/&gt;</a:t>
            </a:r>
            <a:endParaRPr lang="en-US" sz="1200" b="1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555E4A-C135-A656-2A54-892BB03A76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847CCE0-37DD-3E5B-4F30-EA9C2B395DE6}"/>
              </a:ext>
            </a:extLst>
          </p:cNvPr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0232A"/>
          </a:solidFill>
          <a:ln w="12700">
            <a:solidFill>
              <a:srgbClr val="2023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2C53A907-2ED6-269E-9EFC-5257B50E0D25}"/>
              </a:ext>
            </a:extLst>
          </p:cNvPr>
          <p:cNvSpPr/>
          <p:nvPr/>
        </p:nvSpPr>
        <p:spPr>
          <a:xfrm>
            <a:off x="365760" y="109728"/>
            <a:ext cx="1005840" cy="457200"/>
          </a:xfrm>
          <a:prstGeom prst="rect">
            <a:avLst/>
          </a:prstGeom>
          <a:solidFill>
            <a:srgbClr val="CB356B"/>
          </a:solidFill>
          <a:ln w="12700">
            <a:solidFill>
              <a:srgbClr val="CB356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73422ED-9346-FA72-8F4C-9F4F75631774}"/>
              </a:ext>
            </a:extLst>
          </p:cNvPr>
          <p:cNvSpPr/>
          <p:nvPr/>
        </p:nvSpPr>
        <p:spPr>
          <a:xfrm>
            <a:off x="365760" y="109728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Lesson 05</a:t>
            </a:r>
            <a:endParaRPr lang="en-US" sz="11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03AAFBB0-38DC-4316-E1D0-CB268E4BC08E}"/>
              </a:ext>
            </a:extLst>
          </p:cNvPr>
          <p:cNvSpPr/>
          <p:nvPr/>
        </p:nvSpPr>
        <p:spPr>
          <a:xfrm>
            <a:off x="1508760" y="109728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 err="1">
                <a:solidFill>
                  <a:srgbClr val="61DAFB"/>
                </a:solidFill>
              </a:rPr>
              <a:t>Inicio.jsx</a:t>
            </a:r>
            <a:endParaRPr lang="en-US" sz="18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47033D90-9216-0E80-EB91-53981B39DE57}"/>
              </a:ext>
            </a:extLst>
          </p:cNvPr>
          <p:cNvSpPr/>
          <p:nvPr/>
        </p:nvSpPr>
        <p:spPr>
          <a:xfrm>
            <a:off x="457200" y="804672"/>
            <a:ext cx="4572000" cy="4206240"/>
          </a:xfrm>
          <a:prstGeom prst="rect">
            <a:avLst/>
          </a:prstGeom>
          <a:solidFill>
            <a:srgbClr val="1E1E2E"/>
          </a:solidFill>
          <a:ln w="12700">
            <a:solidFill>
              <a:srgbClr val="2D2D3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597E9854-FF27-4F49-83EE-98F6E37377AB}"/>
              </a:ext>
            </a:extLst>
          </p:cNvPr>
          <p:cNvSpPr/>
          <p:nvPr/>
        </p:nvSpPr>
        <p:spPr>
          <a:xfrm>
            <a:off x="594360" y="896112"/>
            <a:ext cx="4297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pt-BR" sz="1200" dirty="0" err="1">
                <a:solidFill>
                  <a:srgbClr val="CDD6F4"/>
                </a:solidFill>
                <a:latin typeface="Consolas" pitchFamily="34" charset="0"/>
              </a:rPr>
              <a:t>import</a:t>
            </a:r>
            <a:r>
              <a:rPr lang="pt-BR" sz="1200" dirty="0">
                <a:solidFill>
                  <a:srgbClr val="CDD6F4"/>
                </a:solidFill>
                <a:latin typeface="Consolas" pitchFamily="34" charset="0"/>
              </a:rPr>
              <a:t> { Titulo } </a:t>
            </a:r>
            <a:r>
              <a:rPr lang="pt-BR" sz="1200" dirty="0" err="1">
                <a:solidFill>
                  <a:srgbClr val="CDD6F4"/>
                </a:solidFill>
                <a:latin typeface="Consolas" pitchFamily="34" charset="0"/>
              </a:rPr>
              <a:t>from</a:t>
            </a:r>
            <a:r>
              <a:rPr lang="pt-BR" sz="1200" dirty="0">
                <a:solidFill>
                  <a:srgbClr val="CDD6F4"/>
                </a:solidFill>
                <a:latin typeface="Consolas" pitchFamily="34" charset="0"/>
              </a:rPr>
              <a:t> "./componentes/Titulo" </a:t>
            </a:r>
          </a:p>
          <a:p>
            <a:endParaRPr lang="pt-BR" sz="1200" dirty="0">
              <a:solidFill>
                <a:srgbClr val="CDD6F4"/>
              </a:solidFill>
              <a:latin typeface="Consolas" pitchFamily="34" charset="0"/>
            </a:endParaRPr>
          </a:p>
          <a:p>
            <a:endParaRPr lang="pt-BR" sz="1200" dirty="0">
              <a:solidFill>
                <a:srgbClr val="CDD6F4"/>
              </a:solidFill>
              <a:latin typeface="Consolas" pitchFamily="34" charset="0"/>
            </a:endParaRPr>
          </a:p>
          <a:p>
            <a:r>
              <a:rPr lang="pt-BR" sz="1200" dirty="0" err="1">
                <a:solidFill>
                  <a:srgbClr val="CDD6F4"/>
                </a:solidFill>
                <a:latin typeface="Consolas" pitchFamily="34" charset="0"/>
              </a:rPr>
              <a:t>export</a:t>
            </a:r>
            <a:r>
              <a:rPr lang="pt-BR" sz="1200" dirty="0">
                <a:solidFill>
                  <a:srgbClr val="CDD6F4"/>
                </a:solidFill>
                <a:latin typeface="Consolas" pitchFamily="34" charset="0"/>
              </a:rPr>
              <a:t> </a:t>
            </a:r>
            <a:r>
              <a:rPr lang="pt-BR" sz="1200" dirty="0" err="1">
                <a:solidFill>
                  <a:srgbClr val="CDD6F4"/>
                </a:solidFill>
                <a:latin typeface="Consolas" pitchFamily="34" charset="0"/>
              </a:rPr>
              <a:t>function</a:t>
            </a:r>
            <a:r>
              <a:rPr lang="pt-BR" sz="1200" dirty="0">
                <a:solidFill>
                  <a:srgbClr val="CDD6F4"/>
                </a:solidFill>
                <a:latin typeface="Consolas" pitchFamily="34" charset="0"/>
              </a:rPr>
              <a:t> Inicio() {</a:t>
            </a:r>
          </a:p>
          <a:p>
            <a:r>
              <a:rPr lang="pt-BR" sz="1200" dirty="0">
                <a:solidFill>
                  <a:srgbClr val="CDD6F4"/>
                </a:solidFill>
                <a:latin typeface="Consolas" pitchFamily="34" charset="0"/>
              </a:rPr>
              <a:t> </a:t>
            </a:r>
            <a:r>
              <a:rPr lang="pt-BR" sz="1200" dirty="0" err="1">
                <a:solidFill>
                  <a:srgbClr val="CDD6F4"/>
                </a:solidFill>
                <a:latin typeface="Consolas" pitchFamily="34" charset="0"/>
              </a:rPr>
              <a:t>return</a:t>
            </a:r>
            <a:r>
              <a:rPr lang="pt-BR" sz="1200" dirty="0">
                <a:solidFill>
                  <a:srgbClr val="CDD6F4"/>
                </a:solidFill>
                <a:latin typeface="Consolas" pitchFamily="34" charset="0"/>
              </a:rPr>
              <a:t> (</a:t>
            </a:r>
          </a:p>
          <a:p>
            <a:r>
              <a:rPr lang="pt-BR" sz="1200" dirty="0">
                <a:solidFill>
                  <a:srgbClr val="CDD6F4"/>
                </a:solidFill>
                <a:latin typeface="Consolas" pitchFamily="34" charset="0"/>
              </a:rPr>
              <a:t>  &lt;&gt; </a:t>
            </a:r>
          </a:p>
          <a:p>
            <a:r>
              <a:rPr lang="pt-BR" sz="1200" dirty="0">
                <a:solidFill>
                  <a:srgbClr val="CDD6F4"/>
                </a:solidFill>
                <a:latin typeface="Consolas" pitchFamily="34" charset="0"/>
              </a:rPr>
              <a:t>    &lt;Titulo nome="Velejando com o </a:t>
            </a:r>
            <a:r>
              <a:rPr lang="pt-BR" sz="1200" dirty="0" err="1">
                <a:solidFill>
                  <a:srgbClr val="CDD6F4"/>
                </a:solidFill>
                <a:latin typeface="Consolas" pitchFamily="34" charset="0"/>
              </a:rPr>
              <a:t>React</a:t>
            </a:r>
            <a:r>
              <a:rPr lang="pt-BR" sz="1200" dirty="0">
                <a:solidFill>
                  <a:srgbClr val="CDD6F4"/>
                </a:solidFill>
                <a:latin typeface="Consolas" pitchFamily="34" charset="0"/>
              </a:rPr>
              <a:t>" /&gt;</a:t>
            </a:r>
          </a:p>
          <a:p>
            <a:r>
              <a:rPr lang="pt-BR" sz="1200" dirty="0">
                <a:solidFill>
                  <a:srgbClr val="CDD6F4"/>
                </a:solidFill>
                <a:latin typeface="Consolas" pitchFamily="34" charset="0"/>
              </a:rPr>
              <a:t>  &lt;/&gt; </a:t>
            </a:r>
          </a:p>
          <a:p>
            <a:r>
              <a:rPr lang="pt-BR" sz="1200" dirty="0">
                <a:solidFill>
                  <a:srgbClr val="CDD6F4"/>
                </a:solidFill>
                <a:latin typeface="Consolas" pitchFamily="34" charset="0"/>
              </a:rPr>
              <a:t> )</a:t>
            </a:r>
          </a:p>
          <a:p>
            <a:r>
              <a:rPr lang="pt-BR" sz="1200" dirty="0">
                <a:solidFill>
                  <a:srgbClr val="CDD6F4"/>
                </a:solidFill>
                <a:latin typeface="Consolas" pitchFamily="34" charset="0"/>
              </a:rPr>
              <a:t>}</a:t>
            </a:r>
            <a:endParaRPr lang="en-US" sz="1200" dirty="0">
              <a:solidFill>
                <a:srgbClr val="CDD6F4"/>
              </a:solidFill>
              <a:latin typeface="Consolas" pitchFamily="34" charset="0"/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46DD0FE1-47CC-8AF4-DB31-4970D14D8861}"/>
              </a:ext>
            </a:extLst>
          </p:cNvPr>
          <p:cNvSpPr/>
          <p:nvPr/>
        </p:nvSpPr>
        <p:spPr>
          <a:xfrm>
            <a:off x="5303520" y="80467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0232A"/>
                </a:solidFill>
              </a:rPr>
              <a:t>Como a data é transformada:</a:t>
            </a:r>
            <a:endParaRPr lang="en-US" sz="1300" dirty="0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41D1F457-E5D1-A652-397B-0DDE4A5DED89}"/>
              </a:ext>
            </a:extLst>
          </p:cNvPr>
          <p:cNvSpPr/>
          <p:nvPr/>
        </p:nvSpPr>
        <p:spPr>
          <a:xfrm>
            <a:off x="5303520" y="1261872"/>
            <a:ext cx="3566160" cy="777240"/>
          </a:xfrm>
          <a:prstGeom prst="rect">
            <a:avLst/>
          </a:prstGeom>
          <a:solidFill>
            <a:srgbClr val="FFF3CD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98AB11EE-4EFE-8402-04B1-9B61D9BEEFB6}"/>
              </a:ext>
            </a:extLst>
          </p:cNvPr>
          <p:cNvSpPr/>
          <p:nvPr/>
        </p:nvSpPr>
        <p:spPr>
          <a:xfrm>
            <a:off x="5440680" y="1353312"/>
            <a:ext cx="365760" cy="365760"/>
          </a:xfrm>
          <a:prstGeom prst="ellipse">
            <a:avLst/>
          </a:prstGeom>
          <a:solidFill>
            <a:srgbClr val="20232A"/>
          </a:solidFill>
          <a:ln w="12700">
            <a:solidFill>
              <a:srgbClr val="2023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AEAC39CC-EB0B-5466-A37F-3C27FA355AB4}"/>
              </a:ext>
            </a:extLst>
          </p:cNvPr>
          <p:cNvSpPr/>
          <p:nvPr/>
        </p:nvSpPr>
        <p:spPr>
          <a:xfrm>
            <a:off x="5440680" y="13533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C3FDEF28-51C1-C1CD-1124-E508BFBE50A8}"/>
              </a:ext>
            </a:extLst>
          </p:cNvPr>
          <p:cNvSpPr/>
          <p:nvPr/>
        </p:nvSpPr>
        <p:spPr>
          <a:xfrm>
            <a:off x="5897880" y="129844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pt-BR" sz="1100" b="1" dirty="0">
                <a:solidFill>
                  <a:srgbClr val="20232A"/>
                </a:solidFill>
                <a:latin typeface="Consolas" pitchFamily="34" charset="0"/>
              </a:rPr>
              <a:t>1. O Componente (&lt;Titulo ... /&gt;)</a:t>
            </a:r>
            <a:endParaRPr lang="en-US" sz="1100" b="1" dirty="0">
              <a:solidFill>
                <a:srgbClr val="20232A"/>
              </a:solidFill>
              <a:latin typeface="Consolas" pitchFamily="34" charset="0"/>
            </a:endParaRPr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AE5C6735-1286-E691-2FCF-22CD585BAC1C}"/>
              </a:ext>
            </a:extLst>
          </p:cNvPr>
          <p:cNvSpPr/>
          <p:nvPr/>
        </p:nvSpPr>
        <p:spPr>
          <a:xfrm>
            <a:off x="5897880" y="159105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dirty="0">
                <a:solidFill>
                  <a:srgbClr val="555F6E"/>
                </a:solidFill>
              </a:rPr>
              <a:t>→ </a:t>
            </a:r>
            <a:r>
              <a:rPr lang="pt-BR" sz="1000" dirty="0">
                <a:solidFill>
                  <a:srgbClr val="555F6E"/>
                </a:solidFill>
              </a:rPr>
              <a:t>Em vez de usar uma </a:t>
            </a:r>
            <a:r>
              <a:rPr lang="pt-BR" sz="1000" dirty="0" err="1">
                <a:solidFill>
                  <a:srgbClr val="555F6E"/>
                </a:solidFill>
              </a:rPr>
              <a:t>tag</a:t>
            </a:r>
            <a:r>
              <a:rPr lang="pt-BR" sz="1000" dirty="0">
                <a:solidFill>
                  <a:srgbClr val="555F6E"/>
                </a:solidFill>
              </a:rPr>
              <a:t> HTML padrão (como &lt;h1&gt; ou &lt;</a:t>
            </a:r>
            <a:r>
              <a:rPr lang="pt-BR" sz="1000" dirty="0" err="1">
                <a:solidFill>
                  <a:srgbClr val="555F6E"/>
                </a:solidFill>
              </a:rPr>
              <a:t>div</a:t>
            </a:r>
            <a:r>
              <a:rPr lang="pt-BR" sz="1000" dirty="0">
                <a:solidFill>
                  <a:srgbClr val="555F6E"/>
                </a:solidFill>
              </a:rPr>
              <a:t>&gt;), você está chamando um componente chamado Titulo.</a:t>
            </a:r>
            <a:endParaRPr lang="en-US" sz="1000" dirty="0">
              <a:solidFill>
                <a:srgbClr val="555F6E"/>
              </a:solidFill>
            </a:endParaRPr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4F2C501A-60D0-CD05-FE7A-4F465DC664F4}"/>
              </a:ext>
            </a:extLst>
          </p:cNvPr>
          <p:cNvSpPr/>
          <p:nvPr/>
        </p:nvSpPr>
        <p:spPr>
          <a:xfrm>
            <a:off x="5303520" y="2176272"/>
            <a:ext cx="3566160" cy="777240"/>
          </a:xfrm>
          <a:prstGeom prst="rect">
            <a:avLst/>
          </a:prstGeom>
          <a:solidFill>
            <a:srgbClr val="D1ECF1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E1DFFD6C-6FE4-B08A-4748-D4D8BFA26B05}"/>
              </a:ext>
            </a:extLst>
          </p:cNvPr>
          <p:cNvSpPr/>
          <p:nvPr/>
        </p:nvSpPr>
        <p:spPr>
          <a:xfrm>
            <a:off x="5440680" y="2267712"/>
            <a:ext cx="365760" cy="365760"/>
          </a:xfrm>
          <a:prstGeom prst="ellipse">
            <a:avLst/>
          </a:prstGeom>
          <a:solidFill>
            <a:srgbClr val="20232A"/>
          </a:solidFill>
          <a:ln w="12700">
            <a:solidFill>
              <a:srgbClr val="2023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642CCEFF-6BD9-9B05-2798-BECD4897E84E}"/>
              </a:ext>
            </a:extLst>
          </p:cNvPr>
          <p:cNvSpPr/>
          <p:nvPr/>
        </p:nvSpPr>
        <p:spPr>
          <a:xfrm>
            <a:off x="5440680" y="22677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52CF11EF-2D41-5074-5058-F1F501BF7AF4}"/>
              </a:ext>
            </a:extLst>
          </p:cNvPr>
          <p:cNvSpPr/>
          <p:nvPr/>
        </p:nvSpPr>
        <p:spPr>
          <a:xfrm>
            <a:off x="5897880" y="221284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pt-BR" sz="1100" b="1" dirty="0">
                <a:solidFill>
                  <a:srgbClr val="20232A"/>
                </a:solidFill>
                <a:latin typeface="Consolas" pitchFamily="34" charset="0"/>
              </a:rPr>
              <a:t>A Propriedade ou Prop (nome=)</a:t>
            </a:r>
            <a:endParaRPr lang="en-US" sz="1100" b="1" dirty="0">
              <a:solidFill>
                <a:srgbClr val="20232A"/>
              </a:solidFill>
              <a:latin typeface="Consolas" pitchFamily="34" charset="0"/>
            </a:endParaRPr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A334D09F-57F0-FCC4-0EC7-1EFEB2B6259A}"/>
              </a:ext>
            </a:extLst>
          </p:cNvPr>
          <p:cNvSpPr/>
          <p:nvPr/>
        </p:nvSpPr>
        <p:spPr>
          <a:xfrm>
            <a:off x="5897880" y="250545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dirty="0">
                <a:solidFill>
                  <a:srgbClr val="555F6E"/>
                </a:solidFill>
              </a:rPr>
              <a:t>→ </a:t>
            </a:r>
            <a:r>
              <a:rPr lang="pt-BR" sz="1000" dirty="0">
                <a:solidFill>
                  <a:srgbClr val="555F6E"/>
                </a:solidFill>
              </a:rPr>
              <a:t>O termo </a:t>
            </a:r>
            <a:r>
              <a:rPr lang="pt-BR" sz="1000" b="1" dirty="0">
                <a:solidFill>
                  <a:srgbClr val="555F6E"/>
                </a:solidFill>
              </a:rPr>
              <a:t>nome</a:t>
            </a:r>
            <a:r>
              <a:rPr lang="pt-BR" sz="1000" dirty="0">
                <a:solidFill>
                  <a:srgbClr val="555F6E"/>
                </a:solidFill>
              </a:rPr>
              <a:t> é o que chamamos de Prop (abreviação de </a:t>
            </a:r>
            <a:r>
              <a:rPr lang="pt-BR" sz="1000" dirty="0" err="1">
                <a:solidFill>
                  <a:srgbClr val="555F6E"/>
                </a:solidFill>
              </a:rPr>
              <a:t>property</a:t>
            </a:r>
            <a:r>
              <a:rPr lang="pt-BR" sz="1000" dirty="0">
                <a:solidFill>
                  <a:srgbClr val="555F6E"/>
                </a:solidFill>
              </a:rPr>
              <a:t>). Pense nisso como o argumento de uma função</a:t>
            </a:r>
            <a:r>
              <a:rPr lang="pt-BR" sz="1000" dirty="0"/>
              <a:t>.</a:t>
            </a:r>
            <a:endParaRPr lang="en-US" sz="1000" dirty="0"/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EC4A625E-96A2-50F3-C04E-E9AF14BBA7D4}"/>
              </a:ext>
            </a:extLst>
          </p:cNvPr>
          <p:cNvSpPr/>
          <p:nvPr/>
        </p:nvSpPr>
        <p:spPr>
          <a:xfrm>
            <a:off x="5303520" y="3090672"/>
            <a:ext cx="3566160" cy="777240"/>
          </a:xfrm>
          <a:prstGeom prst="rect">
            <a:avLst/>
          </a:prstGeom>
          <a:solidFill>
            <a:srgbClr val="D4EDDA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C269528E-729B-C884-B363-E667C1F54FC2}"/>
              </a:ext>
            </a:extLst>
          </p:cNvPr>
          <p:cNvSpPr/>
          <p:nvPr/>
        </p:nvSpPr>
        <p:spPr>
          <a:xfrm>
            <a:off x="5440680" y="3182112"/>
            <a:ext cx="365760" cy="365760"/>
          </a:xfrm>
          <a:prstGeom prst="ellipse">
            <a:avLst/>
          </a:prstGeom>
          <a:solidFill>
            <a:srgbClr val="20232A"/>
          </a:solidFill>
          <a:ln w="12700">
            <a:solidFill>
              <a:srgbClr val="2023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DF5E49DF-9738-A3C8-AAC9-AE2658ACD83B}"/>
              </a:ext>
            </a:extLst>
          </p:cNvPr>
          <p:cNvSpPr/>
          <p:nvPr/>
        </p:nvSpPr>
        <p:spPr>
          <a:xfrm>
            <a:off x="5440680" y="31821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C2AA56A4-9582-C135-4CF0-641E09DB1BEC}"/>
              </a:ext>
            </a:extLst>
          </p:cNvPr>
          <p:cNvSpPr/>
          <p:nvPr/>
        </p:nvSpPr>
        <p:spPr>
          <a:xfrm>
            <a:off x="5897880" y="312724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pt-BR" sz="1100" b="1" dirty="0">
                <a:solidFill>
                  <a:srgbClr val="20232A"/>
                </a:solidFill>
                <a:latin typeface="Consolas" pitchFamily="34" charset="0"/>
              </a:rPr>
              <a:t>O Valor ("Velejando com o </a:t>
            </a:r>
            <a:r>
              <a:rPr lang="pt-BR" sz="1100" b="1" dirty="0" err="1">
                <a:solidFill>
                  <a:srgbClr val="20232A"/>
                </a:solidFill>
                <a:latin typeface="Consolas" pitchFamily="34" charset="0"/>
              </a:rPr>
              <a:t>React</a:t>
            </a:r>
            <a:r>
              <a:rPr lang="pt-BR" sz="1100" b="1" dirty="0">
                <a:solidFill>
                  <a:srgbClr val="20232A"/>
                </a:solidFill>
                <a:latin typeface="Consolas" pitchFamily="34" charset="0"/>
              </a:rPr>
              <a:t>")</a:t>
            </a:r>
            <a:endParaRPr lang="en-US" sz="1100" b="1" dirty="0">
              <a:solidFill>
                <a:srgbClr val="20232A"/>
              </a:solidFill>
              <a:latin typeface="Consolas" pitchFamily="34" charset="0"/>
            </a:endParaRPr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22569D1B-517A-D360-A513-CC8430BF733E}"/>
              </a:ext>
            </a:extLst>
          </p:cNvPr>
          <p:cNvSpPr/>
          <p:nvPr/>
        </p:nvSpPr>
        <p:spPr>
          <a:xfrm>
            <a:off x="5897880" y="341985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dirty="0">
                <a:solidFill>
                  <a:srgbClr val="555F6E"/>
                </a:solidFill>
              </a:rPr>
              <a:t>→ </a:t>
            </a:r>
            <a:r>
              <a:rPr lang="pt-BR" sz="1000" dirty="0">
                <a:solidFill>
                  <a:srgbClr val="555F6E"/>
                </a:solidFill>
              </a:rPr>
              <a:t>Este é o conteúdo que você está enviando. O componente </a:t>
            </a:r>
            <a:r>
              <a:rPr lang="pt-BR" sz="1000" b="1" dirty="0">
                <a:solidFill>
                  <a:srgbClr val="555F6E"/>
                </a:solidFill>
              </a:rPr>
              <a:t>Titulo</a:t>
            </a:r>
            <a:endParaRPr lang="en-US" sz="1000" b="1" dirty="0">
              <a:solidFill>
                <a:srgbClr val="555F6E"/>
              </a:solidFill>
            </a:endParaRPr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8D03CD36-D297-D667-620D-821C389F5089}"/>
              </a:ext>
            </a:extLst>
          </p:cNvPr>
          <p:cNvSpPr/>
          <p:nvPr/>
        </p:nvSpPr>
        <p:spPr>
          <a:xfrm>
            <a:off x="5303520" y="406908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0232A"/>
                </a:solidFill>
              </a:rPr>
              <a:t>No </a:t>
            </a:r>
            <a:r>
              <a:rPr lang="en-US" sz="1100" b="1" dirty="0" err="1">
                <a:solidFill>
                  <a:srgbClr val="20232A"/>
                </a:solidFill>
              </a:rPr>
              <a:t>Inicio.jsx</a:t>
            </a:r>
            <a:r>
              <a:rPr lang="en-US" sz="1100" b="1" dirty="0">
                <a:solidFill>
                  <a:srgbClr val="20232A"/>
                </a:solidFill>
              </a:rPr>
              <a:t>, use assim:</a:t>
            </a:r>
            <a:endParaRPr lang="en-US" sz="1100" dirty="0"/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730DE395-0563-0AD5-1D08-27B3CAA38F76}"/>
              </a:ext>
            </a:extLst>
          </p:cNvPr>
          <p:cNvSpPr/>
          <p:nvPr/>
        </p:nvSpPr>
        <p:spPr>
          <a:xfrm>
            <a:off x="5303520" y="4389120"/>
            <a:ext cx="3566160" cy="411480"/>
          </a:xfrm>
          <a:prstGeom prst="rect">
            <a:avLst/>
          </a:prstGeom>
          <a:solidFill>
            <a:srgbClr val="1E1E2E"/>
          </a:solidFill>
          <a:ln w="12700">
            <a:solidFill>
              <a:srgbClr val="2D2D3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9C06F581-146E-BD04-6C89-3A8D54A7FC15}"/>
              </a:ext>
            </a:extLst>
          </p:cNvPr>
          <p:cNvSpPr/>
          <p:nvPr/>
        </p:nvSpPr>
        <p:spPr>
          <a:xfrm>
            <a:off x="5440680" y="448056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&lt;Titulo nome="Velejando com o React"/&gt;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18450839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0232A"/>
          </a:solidFill>
          <a:ln w="12700">
            <a:solidFill>
              <a:srgbClr val="2023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365760" y="109728"/>
            <a:ext cx="1005840" cy="457200"/>
          </a:xfrm>
          <a:prstGeom prst="rect">
            <a:avLst/>
          </a:prstGeom>
          <a:solidFill>
            <a:srgbClr val="CB356B"/>
          </a:solidFill>
          <a:ln w="12700">
            <a:solidFill>
              <a:srgbClr val="CB356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365760" y="109728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Lesson 06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508760" y="109728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 err="1">
                <a:solidFill>
                  <a:srgbClr val="61DAFB"/>
                </a:solidFill>
              </a:rPr>
              <a:t>Componente</a:t>
            </a:r>
            <a:r>
              <a:rPr lang="en-US" sz="1800" b="1" dirty="0">
                <a:solidFill>
                  <a:srgbClr val="61DAFB"/>
                </a:solidFill>
              </a:rPr>
              <a:t> Campo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804672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 err="1">
                <a:solidFill>
                  <a:srgbClr val="CB35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componentes</a:t>
            </a:r>
            <a:r>
              <a:rPr lang="en-US" sz="1200" b="1" dirty="0">
                <a:solidFill>
                  <a:srgbClr val="CB35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r>
              <a:rPr lang="en-US" sz="1200" b="1" dirty="0" err="1">
                <a:solidFill>
                  <a:srgbClr val="CB35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Campo.jsx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161288"/>
            <a:ext cx="3931920" cy="1835912"/>
          </a:xfrm>
          <a:prstGeom prst="rect">
            <a:avLst/>
          </a:prstGeom>
          <a:solidFill>
            <a:srgbClr val="1E1E2E"/>
          </a:solidFill>
          <a:ln w="12700">
            <a:solidFill>
              <a:srgbClr val="2D2D3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594360" y="1252728"/>
            <a:ext cx="3657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ModeloCampo = styled.div`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background: white;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margin: 32px 0;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padding: 16px;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`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export function Campo({ children }) 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&lt;ModeloCampo&gt;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{children}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&lt;/ModeloCampo&gt;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663440" y="80467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0232A"/>
                </a:solidFill>
              </a:rPr>
              <a:t>Usando no </a:t>
            </a:r>
            <a:r>
              <a:rPr lang="en-US" sz="1200" b="1" dirty="0" err="1">
                <a:solidFill>
                  <a:srgbClr val="20232A"/>
                </a:solidFill>
              </a:rPr>
              <a:t>Inicio.jsx</a:t>
            </a:r>
            <a:r>
              <a:rPr lang="en-US" sz="1200" b="1" dirty="0">
                <a:solidFill>
                  <a:srgbClr val="20232A"/>
                </a:solidFill>
              </a:rPr>
              <a:t>: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663440" y="1161288"/>
            <a:ext cx="4206240" cy="2286000"/>
          </a:xfrm>
          <a:prstGeom prst="rect">
            <a:avLst/>
          </a:prstGeom>
          <a:solidFill>
            <a:srgbClr val="1E1E2E"/>
          </a:solidFill>
          <a:ln w="12700">
            <a:solidFill>
              <a:srgbClr val="2D2D3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Text 12"/>
          <p:cNvSpPr/>
          <p:nvPr/>
        </p:nvSpPr>
        <p:spPr>
          <a:xfrm>
            <a:off x="4800600" y="1252728"/>
            <a:ext cx="39319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pt-BR" sz="1000" dirty="0" err="1">
                <a:solidFill>
                  <a:srgbClr val="CDD6F4"/>
                </a:solidFill>
                <a:latin typeface="Consolas" pitchFamily="34" charset="0"/>
              </a:rPr>
              <a:t>import</a:t>
            </a:r>
            <a:r>
              <a:rPr lang="pt-BR" sz="1000" dirty="0">
                <a:solidFill>
                  <a:srgbClr val="CDD6F4"/>
                </a:solidFill>
                <a:latin typeface="Consolas" pitchFamily="34" charset="0"/>
              </a:rPr>
              <a:t> { Titulo } </a:t>
            </a:r>
            <a:r>
              <a:rPr lang="pt-BR" sz="1000" dirty="0" err="1">
                <a:solidFill>
                  <a:srgbClr val="CDD6F4"/>
                </a:solidFill>
                <a:latin typeface="Consolas" pitchFamily="34" charset="0"/>
              </a:rPr>
              <a:t>from</a:t>
            </a:r>
            <a:r>
              <a:rPr lang="pt-BR" sz="1000" dirty="0">
                <a:solidFill>
                  <a:srgbClr val="CDD6F4"/>
                </a:solidFill>
                <a:latin typeface="Consolas" pitchFamily="34" charset="0"/>
              </a:rPr>
              <a:t> "./componentes/Titulo" </a:t>
            </a:r>
          </a:p>
          <a:p>
            <a:r>
              <a:rPr lang="pt-BR" sz="1000" dirty="0" err="1">
                <a:solidFill>
                  <a:srgbClr val="CDD6F4"/>
                </a:solidFill>
                <a:latin typeface="Consolas" pitchFamily="34" charset="0"/>
              </a:rPr>
              <a:t>import</a:t>
            </a:r>
            <a:r>
              <a:rPr lang="pt-BR" sz="1000" dirty="0">
                <a:solidFill>
                  <a:srgbClr val="CDD6F4"/>
                </a:solidFill>
                <a:latin typeface="Consolas" pitchFamily="34" charset="0"/>
              </a:rPr>
              <a:t> { Campo } </a:t>
            </a:r>
            <a:r>
              <a:rPr lang="pt-BR" sz="1000" dirty="0" err="1">
                <a:solidFill>
                  <a:srgbClr val="CDD6F4"/>
                </a:solidFill>
                <a:latin typeface="Consolas" pitchFamily="34" charset="0"/>
              </a:rPr>
              <a:t>from</a:t>
            </a:r>
            <a:r>
              <a:rPr lang="pt-BR" sz="1000" dirty="0">
                <a:solidFill>
                  <a:srgbClr val="CDD6F4"/>
                </a:solidFill>
                <a:latin typeface="Consolas" pitchFamily="34" charset="0"/>
              </a:rPr>
              <a:t> "./componentes/Campo" </a:t>
            </a:r>
          </a:p>
          <a:p>
            <a:endParaRPr lang="pt-BR" sz="1000" dirty="0">
              <a:solidFill>
                <a:srgbClr val="CDD6F4"/>
              </a:solidFill>
              <a:latin typeface="Consolas" pitchFamily="34" charset="0"/>
            </a:endParaRPr>
          </a:p>
          <a:p>
            <a:r>
              <a:rPr lang="pt-BR" sz="1000" dirty="0" err="1">
                <a:solidFill>
                  <a:srgbClr val="CDD6F4"/>
                </a:solidFill>
                <a:latin typeface="Consolas" pitchFamily="34" charset="0"/>
              </a:rPr>
              <a:t>export</a:t>
            </a:r>
            <a:r>
              <a:rPr lang="pt-BR" sz="1000" dirty="0">
                <a:solidFill>
                  <a:srgbClr val="CDD6F4"/>
                </a:solidFill>
                <a:latin typeface="Consolas" pitchFamily="34" charset="0"/>
              </a:rPr>
              <a:t> </a:t>
            </a:r>
            <a:r>
              <a:rPr lang="pt-BR" sz="1000" dirty="0" err="1">
                <a:solidFill>
                  <a:srgbClr val="CDD6F4"/>
                </a:solidFill>
                <a:latin typeface="Consolas" pitchFamily="34" charset="0"/>
              </a:rPr>
              <a:t>function</a:t>
            </a:r>
            <a:r>
              <a:rPr lang="pt-BR" sz="1000" dirty="0">
                <a:solidFill>
                  <a:srgbClr val="CDD6F4"/>
                </a:solidFill>
                <a:latin typeface="Consolas" pitchFamily="34" charset="0"/>
              </a:rPr>
              <a:t> Inicio() { </a:t>
            </a:r>
          </a:p>
          <a:p>
            <a:r>
              <a:rPr lang="pt-BR" sz="1000" dirty="0">
                <a:solidFill>
                  <a:srgbClr val="CDD6F4"/>
                </a:solidFill>
                <a:latin typeface="Consolas" pitchFamily="34" charset="0"/>
              </a:rPr>
              <a:t>  </a:t>
            </a:r>
            <a:r>
              <a:rPr lang="pt-BR" sz="1000" dirty="0" err="1">
                <a:solidFill>
                  <a:srgbClr val="CDD6F4"/>
                </a:solidFill>
                <a:latin typeface="Consolas" pitchFamily="34" charset="0"/>
              </a:rPr>
              <a:t>return</a:t>
            </a:r>
            <a:r>
              <a:rPr lang="pt-BR" sz="1000" dirty="0">
                <a:solidFill>
                  <a:srgbClr val="CDD6F4"/>
                </a:solidFill>
                <a:latin typeface="Consolas" pitchFamily="34" charset="0"/>
              </a:rPr>
              <a:t> ( </a:t>
            </a:r>
          </a:p>
          <a:p>
            <a:r>
              <a:rPr lang="pt-BR" sz="1000" dirty="0">
                <a:solidFill>
                  <a:srgbClr val="CDD6F4"/>
                </a:solidFill>
                <a:latin typeface="Consolas" pitchFamily="34" charset="0"/>
              </a:rPr>
              <a:t>    &lt;&gt; </a:t>
            </a:r>
          </a:p>
          <a:p>
            <a:r>
              <a:rPr lang="pt-BR" sz="1000" dirty="0">
                <a:solidFill>
                  <a:srgbClr val="CDD6F4"/>
                </a:solidFill>
                <a:latin typeface="Consolas" pitchFamily="34" charset="0"/>
              </a:rPr>
              <a:t>      &lt;Titulo nome="Velejando com o </a:t>
            </a:r>
            <a:r>
              <a:rPr lang="pt-BR" sz="1000" dirty="0" err="1">
                <a:solidFill>
                  <a:srgbClr val="CDD6F4"/>
                </a:solidFill>
                <a:latin typeface="Consolas" pitchFamily="34" charset="0"/>
              </a:rPr>
              <a:t>React</a:t>
            </a:r>
            <a:r>
              <a:rPr lang="pt-BR" sz="1000" dirty="0">
                <a:solidFill>
                  <a:srgbClr val="CDD6F4"/>
                </a:solidFill>
                <a:latin typeface="Consolas" pitchFamily="34" charset="0"/>
              </a:rPr>
              <a:t>" /&gt; </a:t>
            </a:r>
          </a:p>
          <a:p>
            <a:r>
              <a:rPr lang="pt-BR" sz="1000" dirty="0">
                <a:solidFill>
                  <a:srgbClr val="CDD6F4"/>
                </a:solidFill>
                <a:latin typeface="Consolas" pitchFamily="34" charset="0"/>
              </a:rPr>
              <a:t>      &lt;Campo id="1"&gt; </a:t>
            </a:r>
            <a:r>
              <a:rPr lang="pt-BR" sz="1000" dirty="0">
                <a:solidFill>
                  <a:schemeClr val="accent4"/>
                </a:solidFill>
                <a:latin typeface="Consolas" pitchFamily="34" charset="0"/>
              </a:rPr>
              <a:t>teste</a:t>
            </a:r>
            <a:r>
              <a:rPr lang="pt-BR" sz="1000" dirty="0">
                <a:solidFill>
                  <a:srgbClr val="CDD6F4"/>
                </a:solidFill>
                <a:latin typeface="Consolas" pitchFamily="34" charset="0"/>
              </a:rPr>
              <a:t> &lt;/Campo&gt; </a:t>
            </a:r>
          </a:p>
          <a:p>
            <a:r>
              <a:rPr lang="pt-BR" sz="1000" dirty="0">
                <a:solidFill>
                  <a:srgbClr val="CDD6F4"/>
                </a:solidFill>
                <a:latin typeface="Consolas" pitchFamily="34" charset="0"/>
              </a:rPr>
              <a:t>      &lt;Campo id="2"&gt; </a:t>
            </a:r>
            <a:r>
              <a:rPr lang="pt-BR" sz="1000" dirty="0">
                <a:solidFill>
                  <a:schemeClr val="accent4"/>
                </a:solidFill>
                <a:latin typeface="Consolas" pitchFamily="34" charset="0"/>
              </a:rPr>
              <a:t>teste</a:t>
            </a:r>
            <a:r>
              <a:rPr lang="pt-BR" sz="1000" dirty="0">
                <a:solidFill>
                  <a:srgbClr val="CDD6F4"/>
                </a:solidFill>
                <a:latin typeface="Consolas" pitchFamily="34" charset="0"/>
              </a:rPr>
              <a:t> &lt;/Campo&gt;</a:t>
            </a:r>
          </a:p>
          <a:p>
            <a:r>
              <a:rPr lang="pt-BR" sz="1000" dirty="0">
                <a:solidFill>
                  <a:srgbClr val="CDD6F4"/>
                </a:solidFill>
                <a:latin typeface="Consolas" pitchFamily="34" charset="0"/>
              </a:rPr>
              <a:t>    &lt;/&gt; </a:t>
            </a:r>
          </a:p>
          <a:p>
            <a:r>
              <a:rPr lang="pt-BR" sz="1000" dirty="0">
                <a:solidFill>
                  <a:srgbClr val="CDD6F4"/>
                </a:solidFill>
                <a:latin typeface="Consolas" pitchFamily="34" charset="0"/>
              </a:rPr>
              <a:t> )</a:t>
            </a:r>
          </a:p>
          <a:p>
            <a:r>
              <a:rPr lang="pt-BR" sz="1000" dirty="0">
                <a:solidFill>
                  <a:srgbClr val="CDD6F4"/>
                </a:solidFill>
                <a:latin typeface="Consolas" pitchFamily="34" charset="0"/>
              </a:rPr>
              <a:t>}</a:t>
            </a:r>
            <a:endParaRPr lang="en-US" sz="1000" dirty="0">
              <a:solidFill>
                <a:srgbClr val="CDD6F4"/>
              </a:solidFill>
              <a:latin typeface="Consolas" pitchFamily="34" charset="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274321" y="3127248"/>
            <a:ext cx="420624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Text 14"/>
          <p:cNvSpPr/>
          <p:nvPr/>
        </p:nvSpPr>
        <p:spPr>
          <a:xfrm>
            <a:off x="274321" y="3127248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55F6E"/>
                </a:solidFill>
              </a:rPr>
              <a:t>Campo (fundo branco, borda suave)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74321" y="3721608"/>
            <a:ext cx="4206240" cy="365760"/>
          </a:xfrm>
          <a:prstGeom prst="rect">
            <a:avLst/>
          </a:prstGeom>
          <a:solidFill>
            <a:srgbClr val="EEEEEE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8" name="Text 16"/>
          <p:cNvSpPr/>
          <p:nvPr/>
        </p:nvSpPr>
        <p:spPr>
          <a:xfrm>
            <a:off x="274321" y="372160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0232A"/>
                </a:solidFill>
              </a:rPr>
              <a:t>Conteúdo (fundo cinza, texto centralizado)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800600" y="457200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i="1" dirty="0">
                <a:solidFill>
                  <a:srgbClr val="555F6E"/>
                </a:solidFill>
              </a:rPr>
              <a:t>💡 children = </a:t>
            </a:r>
            <a:r>
              <a:rPr lang="pt-BR" sz="1000" i="1" dirty="0">
                <a:solidFill>
                  <a:srgbClr val="555F6E"/>
                </a:solidFill>
              </a:rPr>
              <a:t>No </a:t>
            </a:r>
            <a:r>
              <a:rPr lang="pt-BR" sz="1000" i="1" dirty="0" err="1">
                <a:solidFill>
                  <a:srgbClr val="555F6E"/>
                </a:solidFill>
              </a:rPr>
              <a:t>React</a:t>
            </a:r>
            <a:r>
              <a:rPr lang="pt-BR" sz="1000" i="1" dirty="0">
                <a:solidFill>
                  <a:srgbClr val="555F6E"/>
                </a:solidFill>
              </a:rPr>
              <a:t>, </a:t>
            </a:r>
            <a:r>
              <a:rPr lang="pt-BR" sz="1000" i="1" dirty="0" err="1">
                <a:solidFill>
                  <a:srgbClr val="555F6E"/>
                </a:solidFill>
              </a:rPr>
              <a:t>children</a:t>
            </a:r>
            <a:r>
              <a:rPr lang="pt-BR" sz="1000" i="1" dirty="0">
                <a:solidFill>
                  <a:srgbClr val="555F6E"/>
                </a:solidFill>
              </a:rPr>
              <a:t> é uma </a:t>
            </a:r>
            <a:r>
              <a:rPr lang="pt-BR" sz="1000" i="1" dirty="0" err="1">
                <a:solidFill>
                  <a:srgbClr val="555F6E"/>
                </a:solidFill>
              </a:rPr>
              <a:t>prop</a:t>
            </a:r>
            <a:r>
              <a:rPr lang="pt-BR" sz="1000" i="1" dirty="0">
                <a:solidFill>
                  <a:srgbClr val="555F6E"/>
                </a:solidFill>
              </a:rPr>
              <a:t> especial que contém tudo o que estiver entre a </a:t>
            </a:r>
            <a:r>
              <a:rPr lang="pt-BR" sz="1000" i="1" dirty="0" err="1">
                <a:solidFill>
                  <a:srgbClr val="555F6E"/>
                </a:solidFill>
              </a:rPr>
              <a:t>tag</a:t>
            </a:r>
            <a:r>
              <a:rPr lang="pt-BR" sz="1000" i="1" dirty="0">
                <a:solidFill>
                  <a:srgbClr val="555F6E"/>
                </a:solidFill>
              </a:rPr>
              <a:t> de abertura e a </a:t>
            </a:r>
            <a:r>
              <a:rPr lang="pt-BR" sz="1000" i="1" dirty="0" err="1">
                <a:solidFill>
                  <a:srgbClr val="555F6E"/>
                </a:solidFill>
              </a:rPr>
              <a:t>tag</a:t>
            </a:r>
            <a:r>
              <a:rPr lang="pt-BR" sz="1000" i="1" dirty="0">
                <a:solidFill>
                  <a:srgbClr val="555F6E"/>
                </a:solidFill>
              </a:rPr>
              <a:t> de fechamento de um componente.</a:t>
            </a:r>
            <a:endParaRPr lang="en-US" sz="1000" i="1" dirty="0">
              <a:solidFill>
                <a:srgbClr val="555F6E"/>
              </a:solidFill>
            </a:endParaRPr>
          </a:p>
        </p:txBody>
      </p:sp>
      <p:sp>
        <p:nvSpPr>
          <p:cNvPr id="33" name="Text 9">
            <a:extLst>
              <a:ext uri="{FF2B5EF4-FFF2-40B4-BE49-F238E27FC236}">
                <a16:creationId xmlns:a16="http://schemas.microsoft.com/office/drawing/2014/main" id="{9F17815E-FC59-5DF5-EFAD-F4181DF66C09}"/>
              </a:ext>
            </a:extLst>
          </p:cNvPr>
          <p:cNvSpPr/>
          <p:nvPr/>
        </p:nvSpPr>
        <p:spPr>
          <a:xfrm>
            <a:off x="5120640" y="341807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36" name="Shape 12">
            <a:extLst>
              <a:ext uri="{FF2B5EF4-FFF2-40B4-BE49-F238E27FC236}">
                <a16:creationId xmlns:a16="http://schemas.microsoft.com/office/drawing/2014/main" id="{9A1A66CE-E191-9D20-E3A6-628BC8CA185E}"/>
              </a:ext>
            </a:extLst>
          </p:cNvPr>
          <p:cNvSpPr/>
          <p:nvPr/>
        </p:nvSpPr>
        <p:spPr>
          <a:xfrm>
            <a:off x="4663440" y="3539998"/>
            <a:ext cx="4206240" cy="914400"/>
          </a:xfrm>
          <a:prstGeom prst="rect">
            <a:avLst/>
          </a:prstGeom>
          <a:solidFill>
            <a:srgbClr val="D1ECF1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7" name="Shape 13">
            <a:extLst>
              <a:ext uri="{FF2B5EF4-FFF2-40B4-BE49-F238E27FC236}">
                <a16:creationId xmlns:a16="http://schemas.microsoft.com/office/drawing/2014/main" id="{8A4B7EDF-E73A-6311-0901-90176F3D91C6}"/>
              </a:ext>
            </a:extLst>
          </p:cNvPr>
          <p:cNvSpPr/>
          <p:nvPr/>
        </p:nvSpPr>
        <p:spPr>
          <a:xfrm>
            <a:off x="4800599" y="3640582"/>
            <a:ext cx="374651" cy="365760"/>
          </a:xfrm>
          <a:prstGeom prst="ellipse">
            <a:avLst/>
          </a:prstGeom>
          <a:solidFill>
            <a:srgbClr val="20232A"/>
          </a:solidFill>
          <a:ln w="12700">
            <a:solidFill>
              <a:srgbClr val="2023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8" name="Text 14">
            <a:extLst>
              <a:ext uri="{FF2B5EF4-FFF2-40B4-BE49-F238E27FC236}">
                <a16:creationId xmlns:a16="http://schemas.microsoft.com/office/drawing/2014/main" id="{48EB939B-015E-B56C-4178-EB5B1F423A9F}"/>
              </a:ext>
            </a:extLst>
          </p:cNvPr>
          <p:cNvSpPr/>
          <p:nvPr/>
        </p:nvSpPr>
        <p:spPr>
          <a:xfrm>
            <a:off x="4832349" y="3639312"/>
            <a:ext cx="32004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39" name="Text 15">
            <a:extLst>
              <a:ext uri="{FF2B5EF4-FFF2-40B4-BE49-F238E27FC236}">
                <a16:creationId xmlns:a16="http://schemas.microsoft.com/office/drawing/2014/main" id="{440661CC-4822-32CA-24B7-8EADC2FEDBC8}"/>
              </a:ext>
            </a:extLst>
          </p:cNvPr>
          <p:cNvSpPr/>
          <p:nvPr/>
        </p:nvSpPr>
        <p:spPr>
          <a:xfrm>
            <a:off x="5257800" y="3616198"/>
            <a:ext cx="33434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pt-BR" sz="1100" dirty="0"/>
              <a:t>{</a:t>
            </a:r>
            <a:r>
              <a:rPr lang="pt-BR" sz="1100" b="1" dirty="0" err="1">
                <a:solidFill>
                  <a:srgbClr val="20232A"/>
                </a:solidFill>
                <a:latin typeface="Consolas" pitchFamily="34" charset="0"/>
              </a:rPr>
              <a:t>children</a:t>
            </a:r>
            <a:r>
              <a:rPr lang="pt-BR" sz="1100" dirty="0"/>
              <a:t>}</a:t>
            </a:r>
            <a:endParaRPr lang="en-US" sz="1100" b="1" dirty="0">
              <a:solidFill>
                <a:srgbClr val="20232A"/>
              </a:solidFill>
              <a:latin typeface="Consolas" pitchFamily="34" charset="0"/>
            </a:endParaRPr>
          </a:p>
        </p:txBody>
      </p:sp>
      <p:sp>
        <p:nvSpPr>
          <p:cNvPr id="40" name="Text 16">
            <a:extLst>
              <a:ext uri="{FF2B5EF4-FFF2-40B4-BE49-F238E27FC236}">
                <a16:creationId xmlns:a16="http://schemas.microsoft.com/office/drawing/2014/main" id="{F204CD3E-C1FC-9AF4-A03B-6E13DA2CA0B6}"/>
              </a:ext>
            </a:extLst>
          </p:cNvPr>
          <p:cNvSpPr/>
          <p:nvPr/>
        </p:nvSpPr>
        <p:spPr>
          <a:xfrm>
            <a:off x="5257800" y="4006342"/>
            <a:ext cx="33434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dirty="0">
                <a:solidFill>
                  <a:srgbClr val="555F6E"/>
                </a:solidFill>
              </a:rPr>
              <a:t>→ </a:t>
            </a:r>
            <a:r>
              <a:rPr lang="pt-BR" sz="1000" dirty="0">
                <a:solidFill>
                  <a:srgbClr val="555F6E"/>
                </a:solidFill>
              </a:rPr>
              <a:t>É o "espaço reservado". Você está dizendo ao </a:t>
            </a:r>
            <a:r>
              <a:rPr lang="pt-BR" sz="1000" dirty="0" err="1">
                <a:solidFill>
                  <a:srgbClr val="555F6E"/>
                </a:solidFill>
              </a:rPr>
              <a:t>React</a:t>
            </a:r>
            <a:r>
              <a:rPr lang="pt-BR" sz="1000" dirty="0">
                <a:solidFill>
                  <a:srgbClr val="555F6E"/>
                </a:solidFill>
              </a:rPr>
              <a:t>: "Ei, pegue qualquer coisa que o usuário colocar dentro de &lt;Campo&gt; e renderize aqui dentro do </a:t>
            </a:r>
            <a:r>
              <a:rPr lang="pt-BR" sz="1000" dirty="0" err="1">
                <a:solidFill>
                  <a:srgbClr val="555F6E"/>
                </a:solidFill>
              </a:rPr>
              <a:t>ModeloCampo</a:t>
            </a:r>
            <a:r>
              <a:rPr lang="pt-BR" sz="1000" dirty="0">
                <a:solidFill>
                  <a:srgbClr val="555F6E"/>
                </a:solidFill>
              </a:rPr>
              <a:t>".</a:t>
            </a:r>
            <a:endParaRPr lang="en-US" sz="1000" dirty="0">
              <a:solidFill>
                <a:srgbClr val="555F6E"/>
              </a:solidFill>
            </a:endParaRPr>
          </a:p>
        </p:txBody>
      </p:sp>
      <p:sp>
        <p:nvSpPr>
          <p:cNvPr id="41" name="Shape 7">
            <a:extLst>
              <a:ext uri="{FF2B5EF4-FFF2-40B4-BE49-F238E27FC236}">
                <a16:creationId xmlns:a16="http://schemas.microsoft.com/office/drawing/2014/main" id="{C68E5692-4BBC-ACE1-94F8-C1BD85DC9229}"/>
              </a:ext>
            </a:extLst>
          </p:cNvPr>
          <p:cNvSpPr/>
          <p:nvPr/>
        </p:nvSpPr>
        <p:spPr>
          <a:xfrm>
            <a:off x="274321" y="4317238"/>
            <a:ext cx="4206240" cy="457200"/>
          </a:xfrm>
          <a:prstGeom prst="rect">
            <a:avLst/>
          </a:prstGeom>
          <a:solidFill>
            <a:srgbClr val="D4EDDA"/>
          </a:solidFill>
          <a:ln w="12700">
            <a:solidFill>
              <a:srgbClr val="C3E6C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2" name="Text 8">
            <a:extLst>
              <a:ext uri="{FF2B5EF4-FFF2-40B4-BE49-F238E27FC236}">
                <a16:creationId xmlns:a16="http://schemas.microsoft.com/office/drawing/2014/main" id="{6A5F21A4-3AB6-973C-4101-4265C43E3D2A}"/>
              </a:ext>
            </a:extLst>
          </p:cNvPr>
          <p:cNvSpPr/>
          <p:nvPr/>
        </p:nvSpPr>
        <p:spPr>
          <a:xfrm>
            <a:off x="365761" y="4317238"/>
            <a:ext cx="3799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pt-BR" sz="1400" dirty="0">
                <a:solidFill>
                  <a:srgbClr val="155724"/>
                </a:solidFill>
              </a:rPr>
              <a:t>📢</a:t>
            </a:r>
            <a:r>
              <a:rPr lang="en-US" sz="1400" dirty="0">
                <a:solidFill>
                  <a:srgbClr val="155724"/>
                </a:solidFill>
              </a:rPr>
              <a:t>VAMOS VISUALIZAR NO NAVEGADOR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786CEB0-051A-A0F0-CC1C-D8F50F035D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5FFEF58-DA83-E25D-903A-E3942BC860D6}"/>
              </a:ext>
            </a:extLst>
          </p:cNvPr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0232A"/>
          </a:solidFill>
          <a:ln w="12700">
            <a:solidFill>
              <a:srgbClr val="2023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13E9BF81-ED33-B121-0608-B76DE69615E3}"/>
              </a:ext>
            </a:extLst>
          </p:cNvPr>
          <p:cNvSpPr/>
          <p:nvPr/>
        </p:nvSpPr>
        <p:spPr>
          <a:xfrm>
            <a:off x="365760" y="109728"/>
            <a:ext cx="1005840" cy="457200"/>
          </a:xfrm>
          <a:prstGeom prst="rect">
            <a:avLst/>
          </a:prstGeom>
          <a:solidFill>
            <a:srgbClr val="CB356B"/>
          </a:solidFill>
          <a:ln w="12700">
            <a:solidFill>
              <a:srgbClr val="CB356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DE0E035-827C-8251-A565-B10153941679}"/>
              </a:ext>
            </a:extLst>
          </p:cNvPr>
          <p:cNvSpPr/>
          <p:nvPr/>
        </p:nvSpPr>
        <p:spPr>
          <a:xfrm>
            <a:off x="365760" y="109728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Lesson 07</a:t>
            </a:r>
            <a:endParaRPr lang="en-US" sz="11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0E9F9187-5A56-EF9B-6AD7-20E8318A6520}"/>
              </a:ext>
            </a:extLst>
          </p:cNvPr>
          <p:cNvSpPr/>
          <p:nvPr/>
        </p:nvSpPr>
        <p:spPr>
          <a:xfrm>
            <a:off x="1508760" y="109728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 err="1">
                <a:solidFill>
                  <a:srgbClr val="61DAFB"/>
                </a:solidFill>
              </a:rPr>
              <a:t>Criando</a:t>
            </a:r>
            <a:r>
              <a:rPr lang="en-US" sz="1800" b="1" dirty="0">
                <a:solidFill>
                  <a:srgbClr val="61DAFB"/>
                </a:solidFill>
              </a:rPr>
              <a:t> as </a:t>
            </a:r>
            <a:r>
              <a:rPr lang="en-US" sz="1800" b="1" dirty="0" err="1">
                <a:solidFill>
                  <a:srgbClr val="61DAFB"/>
                </a:solidFill>
              </a:rPr>
              <a:t>tarefas</a:t>
            </a:r>
            <a:r>
              <a:rPr lang="en-US" sz="1800" b="1" dirty="0">
                <a:solidFill>
                  <a:srgbClr val="61DAFB"/>
                </a:solidFill>
              </a:rPr>
              <a:t> - </a:t>
            </a:r>
            <a:r>
              <a:rPr lang="en-US" sz="1800" b="1" dirty="0" err="1">
                <a:solidFill>
                  <a:srgbClr val="61DAFB"/>
                </a:solidFill>
              </a:rPr>
              <a:t>Componentes</a:t>
            </a:r>
            <a:r>
              <a:rPr lang="en-US" sz="1800" b="1" dirty="0">
                <a:solidFill>
                  <a:srgbClr val="61DAFB"/>
                </a:solidFill>
              </a:rPr>
              <a:t> </a:t>
            </a:r>
            <a:r>
              <a:rPr lang="en-US" sz="1800" b="1" dirty="0" err="1">
                <a:solidFill>
                  <a:srgbClr val="61DAFB"/>
                </a:solidFill>
              </a:rPr>
              <a:t>Conteúdo</a:t>
            </a:r>
            <a:endParaRPr lang="en-US" sz="18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5BBA07C9-C5E6-09EF-736F-D95B7F052D79}"/>
              </a:ext>
            </a:extLst>
          </p:cNvPr>
          <p:cNvSpPr/>
          <p:nvPr/>
        </p:nvSpPr>
        <p:spPr>
          <a:xfrm>
            <a:off x="365760" y="841248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 err="1">
                <a:solidFill>
                  <a:srgbClr val="CB35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Componentes</a:t>
            </a:r>
            <a:r>
              <a:rPr lang="en-US" sz="1200" b="1" dirty="0">
                <a:solidFill>
                  <a:srgbClr val="CB35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r>
              <a:rPr lang="en-US" sz="1200" b="1" dirty="0" err="1">
                <a:solidFill>
                  <a:srgbClr val="CB35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Conteudo.jsx</a:t>
            </a:r>
            <a:endParaRPr lang="en-US" sz="1200" dirty="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0D3AC188-1CD1-EC78-A83A-CDB45552CAD8}"/>
              </a:ext>
            </a:extLst>
          </p:cNvPr>
          <p:cNvSpPr/>
          <p:nvPr/>
        </p:nvSpPr>
        <p:spPr>
          <a:xfrm>
            <a:off x="365760" y="1297432"/>
            <a:ext cx="3931920" cy="2454402"/>
          </a:xfrm>
          <a:prstGeom prst="rect">
            <a:avLst/>
          </a:prstGeom>
          <a:solidFill>
            <a:srgbClr val="1E1E2E"/>
          </a:solidFill>
          <a:ln w="12700">
            <a:solidFill>
              <a:srgbClr val="2D2D3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3AB2A2FE-D2D3-6FFF-85BA-F799115F7DF2}"/>
              </a:ext>
            </a:extLst>
          </p:cNvPr>
          <p:cNvSpPr/>
          <p:nvPr/>
        </p:nvSpPr>
        <p:spPr>
          <a:xfrm>
            <a:off x="594360" y="1463040"/>
            <a:ext cx="365760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pt-BR" sz="1000" dirty="0" err="1">
                <a:solidFill>
                  <a:srgbClr val="CDD6F4"/>
                </a:solidFill>
                <a:latin typeface="Consolas" pitchFamily="34" charset="0"/>
              </a:rPr>
              <a:t>import</a:t>
            </a:r>
            <a:r>
              <a:rPr lang="pt-BR" sz="1000" dirty="0">
                <a:solidFill>
                  <a:srgbClr val="CDD6F4"/>
                </a:solidFill>
                <a:latin typeface="Consolas" pitchFamily="34" charset="0"/>
              </a:rPr>
              <a:t> </a:t>
            </a:r>
            <a:r>
              <a:rPr lang="pt-BR" sz="1000" dirty="0" err="1">
                <a:solidFill>
                  <a:srgbClr val="CDD6F4"/>
                </a:solidFill>
                <a:latin typeface="Consolas" pitchFamily="34" charset="0"/>
              </a:rPr>
              <a:t>styled</a:t>
            </a:r>
            <a:r>
              <a:rPr lang="pt-BR" sz="1000" dirty="0">
                <a:solidFill>
                  <a:srgbClr val="CDD6F4"/>
                </a:solidFill>
                <a:latin typeface="Consolas" pitchFamily="34" charset="0"/>
              </a:rPr>
              <a:t> </a:t>
            </a:r>
            <a:r>
              <a:rPr lang="pt-BR" sz="1000" dirty="0" err="1">
                <a:solidFill>
                  <a:srgbClr val="CDD6F4"/>
                </a:solidFill>
                <a:latin typeface="Consolas" pitchFamily="34" charset="0"/>
              </a:rPr>
              <a:t>from</a:t>
            </a:r>
            <a:r>
              <a:rPr lang="pt-BR" sz="1000" dirty="0">
                <a:solidFill>
                  <a:srgbClr val="CDD6F4"/>
                </a:solidFill>
                <a:latin typeface="Consolas" pitchFamily="34" charset="0"/>
              </a:rPr>
              <a:t> "</a:t>
            </a:r>
            <a:r>
              <a:rPr lang="pt-BR" sz="1000" dirty="0" err="1">
                <a:solidFill>
                  <a:srgbClr val="CDD6F4"/>
                </a:solidFill>
                <a:latin typeface="Consolas" pitchFamily="34" charset="0"/>
              </a:rPr>
              <a:t>styled-components</a:t>
            </a:r>
            <a:r>
              <a:rPr lang="pt-BR" sz="1000" dirty="0">
                <a:solidFill>
                  <a:srgbClr val="CDD6F4"/>
                </a:solidFill>
                <a:latin typeface="Consolas" pitchFamily="34" charset="0"/>
              </a:rPr>
              <a:t>"</a:t>
            </a:r>
          </a:p>
          <a:p>
            <a:pPr marL="0" indent="0">
              <a:buNone/>
            </a:pPr>
            <a:endParaRPr lang="en-US" sz="1000" dirty="0">
              <a:solidFill>
                <a:srgbClr val="CDD6F4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ModeloConteudo = styled.div`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background: #eee;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margin-bottom: 16px;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padding: 16px;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text-align: center;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`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export function Conteudo({ texto }) 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&lt;ModeloConteudo&gt;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{texto}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&lt;/ModeloConteudo&gt;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723F2ABA-200C-37B9-16DC-F4BDCA0CF7EF}"/>
              </a:ext>
            </a:extLst>
          </p:cNvPr>
          <p:cNvSpPr/>
          <p:nvPr/>
        </p:nvSpPr>
        <p:spPr>
          <a:xfrm>
            <a:off x="4663440" y="80467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0232A"/>
                </a:solidFill>
              </a:rPr>
              <a:t>Usando no </a:t>
            </a:r>
            <a:r>
              <a:rPr lang="en-US" sz="1200" b="1" dirty="0" err="1">
                <a:solidFill>
                  <a:srgbClr val="20232A"/>
                </a:solidFill>
              </a:rPr>
              <a:t>Inicio.jsx</a:t>
            </a:r>
            <a:r>
              <a:rPr lang="en-US" sz="1200" b="1" dirty="0">
                <a:solidFill>
                  <a:srgbClr val="20232A"/>
                </a:solidFill>
              </a:rPr>
              <a:t>:</a:t>
            </a:r>
            <a:endParaRPr lang="en-US" sz="1200" dirty="0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B277A2CB-1231-D6D1-C129-5EFF0A90999B}"/>
              </a:ext>
            </a:extLst>
          </p:cNvPr>
          <p:cNvSpPr/>
          <p:nvPr/>
        </p:nvSpPr>
        <p:spPr>
          <a:xfrm>
            <a:off x="4663440" y="1161288"/>
            <a:ext cx="4206240" cy="3727704"/>
          </a:xfrm>
          <a:prstGeom prst="rect">
            <a:avLst/>
          </a:prstGeom>
          <a:solidFill>
            <a:srgbClr val="1E1E2E"/>
          </a:solidFill>
          <a:ln w="12700">
            <a:solidFill>
              <a:srgbClr val="2D2D3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77503892-BFC4-C84F-87E1-A3698CDFD1A9}"/>
              </a:ext>
            </a:extLst>
          </p:cNvPr>
          <p:cNvSpPr/>
          <p:nvPr/>
        </p:nvSpPr>
        <p:spPr>
          <a:xfrm>
            <a:off x="4800600" y="1252728"/>
            <a:ext cx="39319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pt-BR" sz="1100" dirty="0" err="1">
                <a:solidFill>
                  <a:srgbClr val="CDD6F4"/>
                </a:solidFill>
                <a:latin typeface="Consolas" pitchFamily="34" charset="0"/>
              </a:rPr>
              <a:t>import</a:t>
            </a:r>
            <a:r>
              <a:rPr lang="pt-BR" sz="1100" dirty="0">
                <a:solidFill>
                  <a:srgbClr val="CDD6F4"/>
                </a:solidFill>
                <a:latin typeface="Consolas" pitchFamily="34" charset="0"/>
              </a:rPr>
              <a:t> { Titulo } </a:t>
            </a:r>
            <a:r>
              <a:rPr lang="pt-BR" sz="1100" dirty="0" err="1">
                <a:solidFill>
                  <a:srgbClr val="CDD6F4"/>
                </a:solidFill>
                <a:latin typeface="Consolas" pitchFamily="34" charset="0"/>
              </a:rPr>
              <a:t>from</a:t>
            </a:r>
            <a:r>
              <a:rPr lang="pt-BR" sz="1100" dirty="0">
                <a:solidFill>
                  <a:srgbClr val="CDD6F4"/>
                </a:solidFill>
                <a:latin typeface="Consolas" pitchFamily="34" charset="0"/>
              </a:rPr>
              <a:t> "./componentes/Titulo"</a:t>
            </a:r>
          </a:p>
          <a:p>
            <a:r>
              <a:rPr lang="pt-BR" sz="1100" dirty="0" err="1">
                <a:solidFill>
                  <a:srgbClr val="CDD6F4"/>
                </a:solidFill>
                <a:latin typeface="Consolas" pitchFamily="34" charset="0"/>
              </a:rPr>
              <a:t>import</a:t>
            </a:r>
            <a:r>
              <a:rPr lang="pt-BR" sz="1100" dirty="0">
                <a:solidFill>
                  <a:srgbClr val="CDD6F4"/>
                </a:solidFill>
                <a:latin typeface="Consolas" pitchFamily="34" charset="0"/>
              </a:rPr>
              <a:t> { Campo } </a:t>
            </a:r>
            <a:r>
              <a:rPr lang="pt-BR" sz="1100" dirty="0" err="1">
                <a:solidFill>
                  <a:srgbClr val="CDD6F4"/>
                </a:solidFill>
                <a:latin typeface="Consolas" pitchFamily="34" charset="0"/>
              </a:rPr>
              <a:t>from</a:t>
            </a:r>
            <a:r>
              <a:rPr lang="pt-BR" sz="1100" dirty="0">
                <a:solidFill>
                  <a:srgbClr val="CDD6F4"/>
                </a:solidFill>
                <a:latin typeface="Consolas" pitchFamily="34" charset="0"/>
              </a:rPr>
              <a:t> "./componentes/Campo"</a:t>
            </a:r>
          </a:p>
          <a:p>
            <a:r>
              <a:rPr lang="pt-BR" sz="1100" dirty="0" err="1">
                <a:solidFill>
                  <a:srgbClr val="CDD6F4"/>
                </a:solidFill>
                <a:latin typeface="Consolas" pitchFamily="34" charset="0"/>
              </a:rPr>
              <a:t>import</a:t>
            </a:r>
            <a:r>
              <a:rPr lang="pt-BR" sz="1100" dirty="0">
                <a:solidFill>
                  <a:srgbClr val="CDD6F4"/>
                </a:solidFill>
                <a:latin typeface="Consolas" pitchFamily="34" charset="0"/>
              </a:rPr>
              <a:t> { </a:t>
            </a:r>
            <a:r>
              <a:rPr lang="pt-BR" sz="1100" dirty="0" err="1">
                <a:solidFill>
                  <a:srgbClr val="CDD6F4"/>
                </a:solidFill>
                <a:latin typeface="Consolas" pitchFamily="34" charset="0"/>
              </a:rPr>
              <a:t>Conteudo</a:t>
            </a:r>
            <a:r>
              <a:rPr lang="pt-BR" sz="1100" dirty="0">
                <a:solidFill>
                  <a:srgbClr val="CDD6F4"/>
                </a:solidFill>
                <a:latin typeface="Consolas" pitchFamily="34" charset="0"/>
              </a:rPr>
              <a:t> } </a:t>
            </a:r>
            <a:r>
              <a:rPr lang="pt-BR" sz="1100" dirty="0" err="1">
                <a:solidFill>
                  <a:srgbClr val="CDD6F4"/>
                </a:solidFill>
                <a:latin typeface="Consolas" pitchFamily="34" charset="0"/>
              </a:rPr>
              <a:t>from</a:t>
            </a:r>
            <a:r>
              <a:rPr lang="pt-BR" sz="1100" dirty="0">
                <a:solidFill>
                  <a:srgbClr val="CDD6F4"/>
                </a:solidFill>
                <a:latin typeface="Consolas" pitchFamily="34" charset="0"/>
              </a:rPr>
              <a:t> "./componentes/</a:t>
            </a:r>
            <a:r>
              <a:rPr lang="pt-BR" sz="1100" dirty="0" err="1">
                <a:solidFill>
                  <a:srgbClr val="CDD6F4"/>
                </a:solidFill>
                <a:latin typeface="Consolas" pitchFamily="34" charset="0"/>
              </a:rPr>
              <a:t>Conteudo</a:t>
            </a:r>
            <a:r>
              <a:rPr lang="pt-BR" sz="1100" dirty="0">
                <a:solidFill>
                  <a:srgbClr val="CDD6F4"/>
                </a:solidFill>
                <a:latin typeface="Consolas" pitchFamily="34" charset="0"/>
              </a:rPr>
              <a:t>"</a:t>
            </a:r>
          </a:p>
          <a:p>
            <a:endParaRPr lang="pt-BR" sz="1100" dirty="0">
              <a:solidFill>
                <a:srgbClr val="CDD6F4"/>
              </a:solidFill>
              <a:latin typeface="Consolas" pitchFamily="34" charset="0"/>
            </a:endParaRPr>
          </a:p>
          <a:p>
            <a:r>
              <a:rPr lang="pt-BR" sz="1100" dirty="0" err="1">
                <a:solidFill>
                  <a:srgbClr val="CDD6F4"/>
                </a:solidFill>
                <a:latin typeface="Consolas" pitchFamily="34" charset="0"/>
              </a:rPr>
              <a:t>export</a:t>
            </a:r>
            <a:r>
              <a:rPr lang="pt-BR" sz="1100" dirty="0">
                <a:solidFill>
                  <a:srgbClr val="CDD6F4"/>
                </a:solidFill>
                <a:latin typeface="Consolas" pitchFamily="34" charset="0"/>
              </a:rPr>
              <a:t> </a:t>
            </a:r>
            <a:r>
              <a:rPr lang="pt-BR" sz="1100" dirty="0" err="1">
                <a:solidFill>
                  <a:srgbClr val="CDD6F4"/>
                </a:solidFill>
                <a:latin typeface="Consolas" pitchFamily="34" charset="0"/>
              </a:rPr>
              <a:t>function</a:t>
            </a:r>
            <a:r>
              <a:rPr lang="pt-BR" sz="1100" dirty="0">
                <a:solidFill>
                  <a:srgbClr val="CDD6F4"/>
                </a:solidFill>
                <a:latin typeface="Consolas" pitchFamily="34" charset="0"/>
              </a:rPr>
              <a:t> Inicio() {</a:t>
            </a:r>
          </a:p>
          <a:p>
            <a:r>
              <a:rPr lang="pt-BR" sz="1100" dirty="0">
                <a:solidFill>
                  <a:srgbClr val="CDD6F4"/>
                </a:solidFill>
                <a:latin typeface="Consolas" pitchFamily="34" charset="0"/>
              </a:rPr>
              <a:t>  </a:t>
            </a:r>
            <a:r>
              <a:rPr lang="pt-BR" sz="1100" dirty="0" err="1">
                <a:solidFill>
                  <a:srgbClr val="CDD6F4"/>
                </a:solidFill>
                <a:latin typeface="Consolas" pitchFamily="34" charset="0"/>
              </a:rPr>
              <a:t>return</a:t>
            </a:r>
            <a:r>
              <a:rPr lang="pt-BR" sz="1100" dirty="0">
                <a:solidFill>
                  <a:srgbClr val="CDD6F4"/>
                </a:solidFill>
                <a:latin typeface="Consolas" pitchFamily="34" charset="0"/>
              </a:rPr>
              <a:t> (</a:t>
            </a:r>
          </a:p>
          <a:p>
            <a:r>
              <a:rPr lang="pt-BR" sz="1100" dirty="0">
                <a:solidFill>
                  <a:srgbClr val="CDD6F4"/>
                </a:solidFill>
                <a:latin typeface="Consolas" pitchFamily="34" charset="0"/>
              </a:rPr>
              <a:t>    &lt;&gt;</a:t>
            </a:r>
          </a:p>
          <a:p>
            <a:r>
              <a:rPr lang="pt-BR" sz="1100" dirty="0">
                <a:solidFill>
                  <a:srgbClr val="CDD6F4"/>
                </a:solidFill>
                <a:latin typeface="Consolas" pitchFamily="34" charset="0"/>
              </a:rPr>
              <a:t>      &lt;Titulo nome="Velejando com o </a:t>
            </a:r>
            <a:r>
              <a:rPr lang="pt-BR" sz="1100" dirty="0" err="1">
                <a:solidFill>
                  <a:srgbClr val="CDD6F4"/>
                </a:solidFill>
                <a:latin typeface="Consolas" pitchFamily="34" charset="0"/>
              </a:rPr>
              <a:t>React</a:t>
            </a:r>
            <a:r>
              <a:rPr lang="pt-BR" sz="1100" dirty="0">
                <a:solidFill>
                  <a:srgbClr val="CDD6F4"/>
                </a:solidFill>
                <a:latin typeface="Consolas" pitchFamily="34" charset="0"/>
              </a:rPr>
              <a:t>" /&gt;</a:t>
            </a:r>
          </a:p>
          <a:p>
            <a:br>
              <a:rPr lang="pt-BR" sz="1100" dirty="0">
                <a:solidFill>
                  <a:srgbClr val="CDD6F4"/>
                </a:solidFill>
                <a:latin typeface="Consolas" pitchFamily="34" charset="0"/>
              </a:rPr>
            </a:br>
            <a:r>
              <a:rPr lang="pt-BR" sz="1100" dirty="0">
                <a:solidFill>
                  <a:srgbClr val="CDD6F4"/>
                </a:solidFill>
                <a:latin typeface="Consolas" pitchFamily="34" charset="0"/>
              </a:rPr>
              <a:t>      &lt;Campo id="1"&gt;</a:t>
            </a:r>
          </a:p>
          <a:p>
            <a:r>
              <a:rPr lang="pt-BR" sz="1100" dirty="0">
                <a:solidFill>
                  <a:srgbClr val="CDD6F4"/>
                </a:solidFill>
                <a:latin typeface="Consolas" pitchFamily="34" charset="0"/>
              </a:rPr>
              <a:t>        &lt;</a:t>
            </a:r>
            <a:r>
              <a:rPr lang="pt-BR" sz="1100" dirty="0" err="1">
                <a:solidFill>
                  <a:srgbClr val="CDD6F4"/>
                </a:solidFill>
                <a:latin typeface="Consolas" pitchFamily="34" charset="0"/>
              </a:rPr>
              <a:t>Conteudo</a:t>
            </a:r>
            <a:r>
              <a:rPr lang="pt-BR" sz="1100" dirty="0">
                <a:solidFill>
                  <a:srgbClr val="CDD6F4"/>
                </a:solidFill>
                <a:latin typeface="Consolas" pitchFamily="34" charset="0"/>
              </a:rPr>
              <a:t> texto="Estudar </a:t>
            </a:r>
            <a:r>
              <a:rPr lang="pt-BR" sz="1100" dirty="0" err="1">
                <a:solidFill>
                  <a:srgbClr val="CDD6F4"/>
                </a:solidFill>
                <a:latin typeface="Consolas" pitchFamily="34" charset="0"/>
              </a:rPr>
              <a:t>React</a:t>
            </a:r>
            <a:r>
              <a:rPr lang="pt-BR" sz="1100" dirty="0">
                <a:solidFill>
                  <a:srgbClr val="CDD6F4"/>
                </a:solidFill>
                <a:latin typeface="Consolas" pitchFamily="34" charset="0"/>
              </a:rPr>
              <a:t>"/&gt;</a:t>
            </a:r>
          </a:p>
          <a:p>
            <a:r>
              <a:rPr lang="pt-BR" sz="1100" dirty="0">
                <a:solidFill>
                  <a:srgbClr val="CDD6F4"/>
                </a:solidFill>
                <a:latin typeface="Consolas" pitchFamily="34" charset="0"/>
              </a:rPr>
              <a:t>      &lt;/Campo&gt;</a:t>
            </a:r>
          </a:p>
          <a:p>
            <a:br>
              <a:rPr lang="pt-BR" sz="1100" dirty="0">
                <a:solidFill>
                  <a:srgbClr val="CDD6F4"/>
                </a:solidFill>
                <a:latin typeface="Consolas" pitchFamily="34" charset="0"/>
              </a:rPr>
            </a:br>
            <a:r>
              <a:rPr lang="pt-BR" sz="1100" dirty="0">
                <a:solidFill>
                  <a:srgbClr val="CDD6F4"/>
                </a:solidFill>
                <a:latin typeface="Consolas" pitchFamily="34" charset="0"/>
              </a:rPr>
              <a:t>      &lt;Campo id="2"&gt;</a:t>
            </a:r>
          </a:p>
          <a:p>
            <a:r>
              <a:rPr lang="pt-BR" sz="1100" dirty="0">
                <a:solidFill>
                  <a:srgbClr val="CDD6F4"/>
                </a:solidFill>
                <a:latin typeface="Consolas" pitchFamily="34" charset="0"/>
              </a:rPr>
              <a:t>        &lt;</a:t>
            </a:r>
            <a:r>
              <a:rPr lang="pt-BR" sz="1100" dirty="0" err="1">
                <a:solidFill>
                  <a:srgbClr val="CDD6F4"/>
                </a:solidFill>
                <a:latin typeface="Consolas" pitchFamily="34" charset="0"/>
              </a:rPr>
              <a:t>Conteudo</a:t>
            </a:r>
            <a:r>
              <a:rPr lang="pt-BR" sz="1100" dirty="0">
                <a:solidFill>
                  <a:srgbClr val="CDD6F4"/>
                </a:solidFill>
                <a:latin typeface="Consolas" pitchFamily="34" charset="0"/>
              </a:rPr>
              <a:t> texto=“Arrumar quarto"/&gt;</a:t>
            </a:r>
          </a:p>
          <a:p>
            <a:r>
              <a:rPr lang="pt-BR" sz="1100" dirty="0">
                <a:solidFill>
                  <a:srgbClr val="CDD6F4"/>
                </a:solidFill>
                <a:latin typeface="Consolas" pitchFamily="34" charset="0"/>
              </a:rPr>
              <a:t>        &lt;</a:t>
            </a:r>
            <a:r>
              <a:rPr lang="pt-BR" sz="1100" dirty="0" err="1">
                <a:solidFill>
                  <a:srgbClr val="CDD6F4"/>
                </a:solidFill>
                <a:latin typeface="Consolas" pitchFamily="34" charset="0"/>
              </a:rPr>
              <a:t>Conteudo</a:t>
            </a:r>
            <a:r>
              <a:rPr lang="pt-BR" sz="1100" dirty="0">
                <a:solidFill>
                  <a:srgbClr val="CDD6F4"/>
                </a:solidFill>
                <a:latin typeface="Consolas" pitchFamily="34" charset="0"/>
              </a:rPr>
              <a:t> texto=“Academia"/&gt;</a:t>
            </a:r>
          </a:p>
          <a:p>
            <a:r>
              <a:rPr lang="pt-BR" sz="1100" dirty="0">
                <a:solidFill>
                  <a:srgbClr val="CDD6F4"/>
                </a:solidFill>
                <a:latin typeface="Consolas" pitchFamily="34" charset="0"/>
              </a:rPr>
              <a:t>      &lt;/Campo&gt;</a:t>
            </a:r>
          </a:p>
          <a:p>
            <a:r>
              <a:rPr lang="pt-BR" sz="1100" dirty="0">
                <a:solidFill>
                  <a:srgbClr val="CDD6F4"/>
                </a:solidFill>
                <a:latin typeface="Consolas" pitchFamily="34" charset="0"/>
              </a:rPr>
              <a:t>    &lt;/&gt;</a:t>
            </a:r>
          </a:p>
          <a:p>
            <a:r>
              <a:rPr lang="pt-BR" sz="1100" dirty="0">
                <a:solidFill>
                  <a:srgbClr val="CDD6F4"/>
                </a:solidFill>
                <a:latin typeface="Consolas" pitchFamily="34" charset="0"/>
              </a:rPr>
              <a:t>  )</a:t>
            </a:r>
          </a:p>
          <a:p>
            <a:r>
              <a:rPr lang="pt-BR" sz="1100" dirty="0">
                <a:solidFill>
                  <a:srgbClr val="CDD6F4"/>
                </a:solidFill>
                <a:latin typeface="Consolas" pitchFamily="34" charset="0"/>
              </a:rPr>
              <a:t>}</a:t>
            </a:r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646CB6E7-865A-2239-5B21-B4820F7C149A}"/>
              </a:ext>
            </a:extLst>
          </p:cNvPr>
          <p:cNvSpPr/>
          <p:nvPr/>
        </p:nvSpPr>
        <p:spPr>
          <a:xfrm>
            <a:off x="274320" y="414223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i="1" dirty="0">
                <a:solidFill>
                  <a:srgbClr val="555F6E"/>
                </a:solidFill>
              </a:rPr>
              <a:t>💡 </a:t>
            </a:r>
            <a:r>
              <a:rPr lang="pt-BR" sz="1000" i="1" dirty="0">
                <a:solidFill>
                  <a:srgbClr val="555F6E"/>
                </a:solidFill>
              </a:rPr>
              <a:t>A função recebe a </a:t>
            </a:r>
            <a:r>
              <a:rPr lang="pt-BR" sz="1000" i="1" dirty="0" err="1">
                <a:solidFill>
                  <a:srgbClr val="555F6E"/>
                </a:solidFill>
              </a:rPr>
              <a:t>prop</a:t>
            </a:r>
            <a:r>
              <a:rPr lang="pt-BR" sz="1000" i="1" dirty="0">
                <a:solidFill>
                  <a:srgbClr val="555F6E"/>
                </a:solidFill>
              </a:rPr>
              <a:t> </a:t>
            </a:r>
            <a:r>
              <a:rPr lang="pt-BR" sz="1000" b="1" i="1" dirty="0">
                <a:solidFill>
                  <a:srgbClr val="555F6E"/>
                </a:solidFill>
              </a:rPr>
              <a:t>texto</a:t>
            </a:r>
            <a:r>
              <a:rPr lang="pt-BR" sz="1000" i="1" dirty="0">
                <a:solidFill>
                  <a:srgbClr val="555F6E"/>
                </a:solidFill>
              </a:rPr>
              <a:t> e a posiciona dentro dessa estrutura, permitindo que cada item da sua lista de tarefas tenha a mesma aparência, mudando apenas o conteúdo escrito.</a:t>
            </a:r>
            <a:endParaRPr lang="en-US" sz="1000" i="1" dirty="0">
              <a:solidFill>
                <a:srgbClr val="555F6E"/>
              </a:solidFill>
            </a:endParaRPr>
          </a:p>
        </p:txBody>
      </p:sp>
      <p:sp>
        <p:nvSpPr>
          <p:cNvPr id="21" name="Retângulo 20">
            <a:extLst>
              <a:ext uri="{FF2B5EF4-FFF2-40B4-BE49-F238E27FC236}">
                <a16:creationId xmlns:a16="http://schemas.microsoft.com/office/drawing/2014/main" id="{9B17AA29-4D16-0E8D-7155-80B0473E2459}"/>
              </a:ext>
            </a:extLst>
          </p:cNvPr>
          <p:cNvSpPr/>
          <p:nvPr/>
        </p:nvSpPr>
        <p:spPr>
          <a:xfrm>
            <a:off x="5166360" y="2744216"/>
            <a:ext cx="2904744" cy="58724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2" name="Retângulo 21">
            <a:extLst>
              <a:ext uri="{FF2B5EF4-FFF2-40B4-BE49-F238E27FC236}">
                <a16:creationId xmlns:a16="http://schemas.microsoft.com/office/drawing/2014/main" id="{54D5D3DD-7E25-DCDA-90BD-DBC63C1ACCF7}"/>
              </a:ext>
            </a:extLst>
          </p:cNvPr>
          <p:cNvSpPr/>
          <p:nvPr/>
        </p:nvSpPr>
        <p:spPr>
          <a:xfrm>
            <a:off x="5166360" y="3385946"/>
            <a:ext cx="2904744" cy="75628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6235295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0232A"/>
          </a:solidFill>
          <a:ln w="12700">
            <a:solidFill>
              <a:srgbClr val="2023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365760" y="109728"/>
            <a:ext cx="1005840" cy="457200"/>
          </a:xfrm>
          <a:prstGeom prst="rect">
            <a:avLst/>
          </a:prstGeom>
          <a:solidFill>
            <a:srgbClr val="CB356B"/>
          </a:solidFill>
          <a:ln w="12700">
            <a:solidFill>
              <a:srgbClr val="CB356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365760" y="109728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Lesson 08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508760" y="109728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1DAFB"/>
                </a:solidFill>
              </a:rPr>
              <a:t>O que é useState? (Hook do React)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804672"/>
            <a:ext cx="8229600" cy="399288"/>
          </a:xfrm>
          <a:prstGeom prst="rect">
            <a:avLst/>
          </a:prstGeom>
          <a:solidFill>
            <a:srgbClr val="20232A"/>
          </a:solidFill>
          <a:ln w="12700">
            <a:solidFill>
              <a:srgbClr val="2023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548640" y="682752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1DAFB"/>
                </a:solidFill>
              </a:rPr>
              <a:t>useState = uma variável especial que quando muda, atualiza a tela automaticamente!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1197864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0232A"/>
                </a:solidFill>
              </a:rPr>
              <a:t>Sintaxe: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1545336"/>
            <a:ext cx="8229600" cy="685800"/>
          </a:xfrm>
          <a:prstGeom prst="rect">
            <a:avLst/>
          </a:prstGeom>
          <a:solidFill>
            <a:srgbClr val="1E1E2E"/>
          </a:solidFill>
          <a:ln w="12700">
            <a:solidFill>
              <a:srgbClr val="2D2D3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Text 8"/>
          <p:cNvSpPr/>
          <p:nvPr/>
        </p:nvSpPr>
        <p:spPr>
          <a:xfrm>
            <a:off x="594360" y="1636776"/>
            <a:ext cx="7955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{ useState } from "react"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[ estado, definidor ] = useState(valorInicial)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2328672"/>
            <a:ext cx="2606040" cy="1097280"/>
          </a:xfrm>
          <a:prstGeom prst="rect">
            <a:avLst/>
          </a:prstGeom>
          <a:solidFill>
            <a:srgbClr val="D4EDDA"/>
          </a:solidFill>
          <a:ln w="25400">
            <a:solidFill>
              <a:srgbClr val="28A74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" name="Text 10"/>
          <p:cNvSpPr/>
          <p:nvPr/>
        </p:nvSpPr>
        <p:spPr>
          <a:xfrm>
            <a:off x="548640" y="2374392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023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estado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271272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0232A"/>
                </a:solidFill>
              </a:rPr>
              <a:t>Guarda o valor atual. Usamos para MOSTRAR na tela.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246120" y="2328672"/>
            <a:ext cx="2606040" cy="1097280"/>
          </a:xfrm>
          <a:prstGeom prst="rect">
            <a:avLst/>
          </a:prstGeom>
          <a:solidFill>
            <a:srgbClr val="D1ECF1"/>
          </a:solidFill>
          <a:ln w="25400">
            <a:solidFill>
              <a:srgbClr val="17A2B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" name="Text 13"/>
          <p:cNvSpPr/>
          <p:nvPr/>
        </p:nvSpPr>
        <p:spPr>
          <a:xfrm>
            <a:off x="3337560" y="2374392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023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definidor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337560" y="271272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0232A"/>
                </a:solidFill>
              </a:rPr>
              <a:t>Função para MUDAR o valor. Quando chamada, a tela atualiza!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035040" y="2328672"/>
            <a:ext cx="2606040" cy="1097280"/>
          </a:xfrm>
          <a:prstGeom prst="rect">
            <a:avLst/>
          </a:prstGeom>
          <a:solidFill>
            <a:srgbClr val="FFF3CD"/>
          </a:solidFill>
          <a:ln w="25400">
            <a:solidFill>
              <a:srgbClr val="FFC10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8" name="Text 16"/>
          <p:cNvSpPr/>
          <p:nvPr/>
        </p:nvSpPr>
        <p:spPr>
          <a:xfrm>
            <a:off x="6126480" y="2374392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023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valorInicial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126480" y="271272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0232A"/>
                </a:solidFill>
              </a:rPr>
              <a:t>O primeiro valor. Também define o TIPO de dado (texto, número, lista...).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3453384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0232A"/>
                </a:solidFill>
              </a:rPr>
              <a:t>Exemplo prático (dinheiro):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57200" y="3800856"/>
            <a:ext cx="8229600" cy="1342644"/>
          </a:xfrm>
          <a:prstGeom prst="rect">
            <a:avLst/>
          </a:prstGeom>
          <a:solidFill>
            <a:srgbClr val="1E1E2E"/>
          </a:solidFill>
          <a:ln w="12700">
            <a:solidFill>
              <a:srgbClr val="2D2D3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2" name="Text 20"/>
          <p:cNvSpPr/>
          <p:nvPr/>
        </p:nvSpPr>
        <p:spPr>
          <a:xfrm>
            <a:off x="594360" y="3892296"/>
            <a:ext cx="7955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[ dinheiro, definirDinheiro ] = useState(100)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console.log(dinheiro)   // imprime: 100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definirDinheiro(500)    // muda o valor!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console.log(dinheiro)   // imprime: 500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0232A"/>
          </a:solidFill>
          <a:ln w="12700">
            <a:solidFill>
              <a:srgbClr val="2023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365760" y="109728"/>
            <a:ext cx="1005840" cy="457200"/>
          </a:xfrm>
          <a:prstGeom prst="rect">
            <a:avLst/>
          </a:prstGeom>
          <a:solidFill>
            <a:srgbClr val="CB356B"/>
          </a:solidFill>
          <a:ln w="12700">
            <a:solidFill>
              <a:srgbClr val="CB356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365760" y="109728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Lesson 09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508760" y="109728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800" b="1" dirty="0">
                <a:solidFill>
                  <a:srgbClr val="61DAFB"/>
                </a:solidFill>
              </a:rPr>
              <a:t>Alternando Estado: feito / </a:t>
            </a:r>
            <a:r>
              <a:rPr lang="en-US" sz="1800" b="1" dirty="0" err="1">
                <a:solidFill>
                  <a:srgbClr val="61DAFB"/>
                </a:solidFill>
              </a:rPr>
              <a:t>não</a:t>
            </a:r>
            <a:r>
              <a:rPr lang="en-US" sz="1800" b="1" dirty="0">
                <a:solidFill>
                  <a:srgbClr val="61DAFB"/>
                </a:solidFill>
              </a:rPr>
              <a:t> Feito                       </a:t>
            </a:r>
            <a:r>
              <a:rPr lang="pt-BR" b="1" dirty="0">
                <a:solidFill>
                  <a:schemeClr val="bg1"/>
                </a:solidFill>
              </a:rPr>
              <a:t>componentes/</a:t>
            </a:r>
            <a:r>
              <a:rPr lang="pt-BR" b="1" dirty="0" err="1">
                <a:solidFill>
                  <a:schemeClr val="bg1"/>
                </a:solidFill>
              </a:rPr>
              <a:t>Conteudo.jsx</a:t>
            </a:r>
            <a:endParaRPr lang="en-US" sz="1800" dirty="0">
              <a:solidFill>
                <a:schemeClr val="bg1"/>
              </a:solidFill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743712"/>
            <a:ext cx="4754880" cy="4389120"/>
          </a:xfrm>
          <a:prstGeom prst="rect">
            <a:avLst/>
          </a:prstGeom>
          <a:solidFill>
            <a:srgbClr val="1E1E2E"/>
          </a:solidFill>
          <a:ln w="12700">
            <a:solidFill>
              <a:srgbClr val="2D2D3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594360" y="835152"/>
            <a:ext cx="44805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{ useState } from "react"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styled from "styled-components"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export function Conteudo({ texto }) {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// Estado: começa como false (não feito)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[ feito, definirFeito ] = useState(false)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// Função que inverte o valor</a:t>
            </a:r>
            <a:endParaRPr lang="en-US" sz="1200" dirty="0"/>
          </a:p>
          <a:p>
            <a:r>
              <a:rPr lang="en-US" sz="12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pt-BR" sz="1200" dirty="0" err="1">
                <a:solidFill>
                  <a:srgbClr val="CDD6F4"/>
                </a:solidFill>
                <a:latin typeface="Consolas" pitchFamily="34" charset="0"/>
              </a:rPr>
              <a:t>function</a:t>
            </a:r>
            <a:r>
              <a:rPr lang="pt-BR" sz="1200" dirty="0">
                <a:solidFill>
                  <a:srgbClr val="CDD6F4"/>
                </a:solidFill>
                <a:latin typeface="Consolas" pitchFamily="34" charset="0"/>
              </a:rPr>
              <a:t> Alternar() {</a:t>
            </a:r>
          </a:p>
          <a:p>
            <a:r>
              <a:rPr lang="pt-BR" sz="1200" dirty="0">
                <a:solidFill>
                  <a:srgbClr val="CDD6F4"/>
                </a:solidFill>
                <a:latin typeface="Consolas" pitchFamily="34" charset="0"/>
              </a:rPr>
              <a:t>    </a:t>
            </a:r>
            <a:r>
              <a:rPr lang="pt-BR" sz="1200" dirty="0" err="1">
                <a:solidFill>
                  <a:srgbClr val="CDD6F4"/>
                </a:solidFill>
                <a:latin typeface="Consolas" pitchFamily="34" charset="0"/>
              </a:rPr>
              <a:t>definirFeito</a:t>
            </a:r>
            <a:r>
              <a:rPr lang="pt-BR" sz="1200" dirty="0">
                <a:solidFill>
                  <a:srgbClr val="CDD6F4"/>
                </a:solidFill>
                <a:latin typeface="Consolas" pitchFamily="34" charset="0"/>
              </a:rPr>
              <a:t>((prev) =&gt; !prev);  // inverte: se prev for </a:t>
            </a:r>
            <a:r>
              <a:rPr lang="pt-BR" sz="1200" dirty="0" err="1">
                <a:solidFill>
                  <a:srgbClr val="CDD6F4"/>
                </a:solidFill>
                <a:latin typeface="Consolas" pitchFamily="34" charset="0"/>
              </a:rPr>
              <a:t>true</a:t>
            </a:r>
            <a:r>
              <a:rPr lang="pt-BR" sz="1200" dirty="0">
                <a:solidFill>
                  <a:srgbClr val="CDD6F4"/>
                </a:solidFill>
                <a:latin typeface="Consolas" pitchFamily="34" charset="0"/>
              </a:rPr>
              <a:t> vira false, e vice-versa</a:t>
            </a:r>
          </a:p>
          <a:p>
            <a:r>
              <a:rPr lang="pt-BR" sz="1200" dirty="0">
                <a:solidFill>
                  <a:srgbClr val="CDD6F4"/>
                </a:solidFill>
                <a:latin typeface="Consolas" pitchFamily="34" charset="0"/>
              </a:rPr>
              <a:t>  }</a:t>
            </a:r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(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&lt;ModeloConteudo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onClick={Alternar}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$estado={feito}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&gt;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{texto}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&lt;/ModeloConteudo&gt;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)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394960" y="80467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0232A"/>
                </a:solidFill>
              </a:rPr>
              <a:t>Como funciona o clique: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394960" y="1234440"/>
            <a:ext cx="3474720" cy="502920"/>
          </a:xfrm>
          <a:prstGeom prst="rect">
            <a:avLst/>
          </a:prstGeom>
          <a:solidFill>
            <a:srgbClr val="EBF4FD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Text 8"/>
          <p:cNvSpPr/>
          <p:nvPr/>
        </p:nvSpPr>
        <p:spPr>
          <a:xfrm>
            <a:off x="5486400" y="123444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0232A"/>
                </a:solidFill>
              </a:rPr>
              <a:t>Usuário clica na tarefa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858000" y="1719072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55F6E"/>
                </a:solidFill>
              </a:rPr>
              <a:t>↓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394960" y="1901952"/>
            <a:ext cx="3474720" cy="502920"/>
          </a:xfrm>
          <a:prstGeom prst="rect">
            <a:avLst/>
          </a:prstGeom>
          <a:solidFill>
            <a:srgbClr val="FFF3CD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pt-BR" dirty="0"/>
          </a:p>
        </p:txBody>
      </p:sp>
      <p:sp>
        <p:nvSpPr>
          <p:cNvPr id="13" name="Text 11"/>
          <p:cNvSpPr/>
          <p:nvPr/>
        </p:nvSpPr>
        <p:spPr>
          <a:xfrm>
            <a:off x="5486400" y="1901952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0232A"/>
                </a:solidFill>
              </a:rPr>
              <a:t>onClick chama </a:t>
            </a:r>
            <a:r>
              <a:rPr lang="en-US" sz="1100" b="1" dirty="0" err="1">
                <a:solidFill>
                  <a:srgbClr val="20232A"/>
                </a:solidFill>
              </a:rPr>
              <a:t>Alternar</a:t>
            </a:r>
            <a:r>
              <a:rPr lang="en-US" sz="1100" b="1" dirty="0">
                <a:solidFill>
                  <a:srgbClr val="20232A"/>
                </a:solidFill>
              </a:rPr>
              <a:t>()   </a:t>
            </a:r>
            <a:r>
              <a:rPr lang="en-US" sz="1100" dirty="0">
                <a:solidFill>
                  <a:srgbClr val="20232A"/>
                </a:solidFill>
              </a:rPr>
              <a:t>-  A </a:t>
            </a:r>
            <a:r>
              <a:rPr lang="en-US" sz="1100" dirty="0" err="1">
                <a:solidFill>
                  <a:srgbClr val="20232A"/>
                </a:solidFill>
              </a:rPr>
              <a:t>função</a:t>
            </a:r>
            <a:r>
              <a:rPr lang="en-US" sz="1100" dirty="0">
                <a:solidFill>
                  <a:srgbClr val="20232A"/>
                </a:solidFill>
              </a:rPr>
              <a:t> </a:t>
            </a:r>
            <a:r>
              <a:rPr lang="en-US" sz="1100" dirty="0" err="1">
                <a:solidFill>
                  <a:srgbClr val="20232A"/>
                </a:solidFill>
              </a:rPr>
              <a:t>Alterar</a:t>
            </a:r>
            <a:r>
              <a:rPr lang="en-US" sz="1100" dirty="0">
                <a:solidFill>
                  <a:srgbClr val="20232A"/>
                </a:solidFill>
              </a:rPr>
              <a:t> é </a:t>
            </a:r>
            <a:r>
              <a:rPr lang="en-US" sz="1100" dirty="0" err="1">
                <a:solidFill>
                  <a:srgbClr val="20232A"/>
                </a:solidFill>
              </a:rPr>
              <a:t>executada</a:t>
            </a:r>
            <a:r>
              <a:rPr lang="en-US" sz="1100" dirty="0">
                <a:solidFill>
                  <a:srgbClr val="20232A"/>
                </a:solidFill>
              </a:rPr>
              <a:t>. 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858000" y="2386584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55F6E"/>
                </a:solidFill>
              </a:rPr>
              <a:t>↓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394960" y="2569464"/>
            <a:ext cx="3474720" cy="502920"/>
          </a:xfrm>
          <a:prstGeom prst="rect">
            <a:avLst/>
          </a:prstGeom>
          <a:solidFill>
            <a:srgbClr val="FFF3CD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Text 14"/>
          <p:cNvSpPr/>
          <p:nvPr/>
        </p:nvSpPr>
        <p:spPr>
          <a:xfrm>
            <a:off x="5486400" y="2569464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pt-BR" sz="1100" b="1" dirty="0" err="1">
                <a:solidFill>
                  <a:srgbClr val="20232A"/>
                </a:solidFill>
              </a:rPr>
              <a:t>definirFeito</a:t>
            </a:r>
            <a:r>
              <a:rPr lang="pt-BR" sz="1100" b="1" dirty="0">
                <a:solidFill>
                  <a:srgbClr val="20232A"/>
                </a:solidFill>
              </a:rPr>
              <a:t>((prev)    </a:t>
            </a:r>
            <a:r>
              <a:rPr lang="pt-BR" sz="1100" dirty="0">
                <a:solidFill>
                  <a:srgbClr val="20232A"/>
                </a:solidFill>
              </a:rPr>
              <a:t>-  pega o valor mais recente do estado (prev)</a:t>
            </a:r>
            <a:endParaRPr lang="en-US" sz="1100" dirty="0">
              <a:solidFill>
                <a:srgbClr val="20232A"/>
              </a:solidFill>
            </a:endParaRPr>
          </a:p>
        </p:txBody>
      </p:sp>
      <p:sp>
        <p:nvSpPr>
          <p:cNvPr id="17" name="Text 15"/>
          <p:cNvSpPr/>
          <p:nvPr/>
        </p:nvSpPr>
        <p:spPr>
          <a:xfrm>
            <a:off x="6858000" y="305409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55F6E"/>
                </a:solidFill>
              </a:rPr>
              <a:t>↓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394960" y="3236976"/>
            <a:ext cx="3474720" cy="502920"/>
          </a:xfrm>
          <a:prstGeom prst="rect">
            <a:avLst/>
          </a:prstGeom>
          <a:solidFill>
            <a:srgbClr val="D4EDDA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9" name="Text 17"/>
          <p:cNvSpPr/>
          <p:nvPr/>
        </p:nvSpPr>
        <p:spPr>
          <a:xfrm>
            <a:off x="5486400" y="3236976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pt-BR" sz="1100" b="1" dirty="0">
                <a:solidFill>
                  <a:srgbClr val="20232A"/>
                </a:solidFill>
              </a:rPr>
              <a:t> !prev);      </a:t>
            </a:r>
            <a:r>
              <a:rPr lang="pt-BR" sz="1100" dirty="0">
                <a:solidFill>
                  <a:srgbClr val="20232A"/>
                </a:solidFill>
              </a:rPr>
              <a:t>-  Inverte o resultado  </a:t>
            </a:r>
            <a:endParaRPr lang="en-US" sz="1100" dirty="0">
              <a:solidFill>
                <a:srgbClr val="20232A"/>
              </a:solidFill>
            </a:endParaRPr>
          </a:p>
        </p:txBody>
      </p:sp>
      <p:sp>
        <p:nvSpPr>
          <p:cNvPr id="20" name="Text 18"/>
          <p:cNvSpPr/>
          <p:nvPr/>
        </p:nvSpPr>
        <p:spPr>
          <a:xfrm>
            <a:off x="6858000" y="372160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55F6E"/>
                </a:solidFill>
              </a:rPr>
              <a:t>↓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394960" y="4550982"/>
            <a:ext cx="3474720" cy="502920"/>
          </a:xfrm>
          <a:prstGeom prst="rect">
            <a:avLst/>
          </a:prstGeom>
          <a:solidFill>
            <a:srgbClr val="FFC000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pt-BR" dirty="0"/>
          </a:p>
        </p:txBody>
      </p:sp>
      <p:sp>
        <p:nvSpPr>
          <p:cNvPr id="22" name="Text 20"/>
          <p:cNvSpPr/>
          <p:nvPr/>
        </p:nvSpPr>
        <p:spPr>
          <a:xfrm>
            <a:off x="5486400" y="4550982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 err="1">
                <a:solidFill>
                  <a:srgbClr val="FF0000"/>
                </a:solidFill>
              </a:rPr>
              <a:t>Ainda</a:t>
            </a:r>
            <a:r>
              <a:rPr lang="en-US" sz="1200" b="1" dirty="0">
                <a:solidFill>
                  <a:srgbClr val="FF0000"/>
                </a:solidFill>
              </a:rPr>
              <a:t> </a:t>
            </a:r>
            <a:r>
              <a:rPr lang="en-US" sz="1200" b="1" dirty="0" err="1">
                <a:solidFill>
                  <a:srgbClr val="FF0000"/>
                </a:solidFill>
              </a:rPr>
              <a:t>não</a:t>
            </a:r>
            <a:r>
              <a:rPr lang="en-US" sz="1200" b="1" dirty="0">
                <a:solidFill>
                  <a:srgbClr val="FF0000"/>
                </a:solidFill>
              </a:rPr>
              <a:t> </a:t>
            </a:r>
            <a:r>
              <a:rPr lang="en-US" sz="1200" b="1" dirty="0" err="1">
                <a:solidFill>
                  <a:srgbClr val="FF0000"/>
                </a:solidFill>
              </a:rPr>
              <a:t>vemos</a:t>
            </a:r>
            <a:r>
              <a:rPr lang="en-US" sz="1200" b="1" dirty="0">
                <a:solidFill>
                  <a:srgbClr val="FF0000"/>
                </a:solidFill>
              </a:rPr>
              <a:t> o </a:t>
            </a:r>
            <a:r>
              <a:rPr lang="en-US" sz="1200" b="1" dirty="0" err="1">
                <a:solidFill>
                  <a:srgbClr val="FF0000"/>
                </a:solidFill>
              </a:rPr>
              <a:t>resultado</a:t>
            </a:r>
            <a:r>
              <a:rPr lang="en-US" sz="1200" b="1" dirty="0">
                <a:solidFill>
                  <a:srgbClr val="FF0000"/>
                </a:solidFill>
              </a:rPr>
              <a:t>, </a:t>
            </a:r>
            <a:r>
              <a:rPr lang="en-US" sz="1200" b="1" dirty="0" err="1">
                <a:solidFill>
                  <a:srgbClr val="FF0000"/>
                </a:solidFill>
              </a:rPr>
              <a:t>precisamos</a:t>
            </a:r>
            <a:r>
              <a:rPr lang="en-US" sz="1200" b="1" dirty="0">
                <a:solidFill>
                  <a:srgbClr val="FF0000"/>
                </a:solidFill>
              </a:rPr>
              <a:t> </a:t>
            </a:r>
            <a:r>
              <a:rPr lang="en-US" sz="1200" b="1" dirty="0" err="1">
                <a:solidFill>
                  <a:srgbClr val="FF0000"/>
                </a:solidFill>
              </a:rPr>
              <a:t>ajustar</a:t>
            </a:r>
            <a:r>
              <a:rPr lang="en-US" sz="1200" b="1" dirty="0">
                <a:solidFill>
                  <a:srgbClr val="FF0000"/>
                </a:solidFill>
              </a:rPr>
              <a:t> </a:t>
            </a:r>
            <a:r>
              <a:rPr lang="en-US" sz="1200" b="1" dirty="0" err="1">
                <a:solidFill>
                  <a:srgbClr val="FF0000"/>
                </a:solidFill>
              </a:rPr>
              <a:t>alguns</a:t>
            </a:r>
            <a:r>
              <a:rPr lang="en-US" sz="1200" b="1" dirty="0">
                <a:solidFill>
                  <a:srgbClr val="FF0000"/>
                </a:solidFill>
              </a:rPr>
              <a:t> </a:t>
            </a:r>
            <a:r>
              <a:rPr lang="en-US" sz="1200" b="1" dirty="0" err="1">
                <a:solidFill>
                  <a:srgbClr val="FF0000"/>
                </a:solidFill>
              </a:rPr>
              <a:t>detalhes</a:t>
            </a:r>
            <a:r>
              <a:rPr lang="en-US" sz="1200" b="1" dirty="0">
                <a:solidFill>
                  <a:srgbClr val="FF0000"/>
                </a:solidFill>
              </a:rPr>
              <a:t> a </a:t>
            </a:r>
            <a:r>
              <a:rPr lang="en-US" sz="1200" b="1" dirty="0" err="1">
                <a:solidFill>
                  <a:srgbClr val="FF0000"/>
                </a:solidFill>
              </a:rPr>
              <a:t>seguir</a:t>
            </a:r>
            <a:r>
              <a:rPr lang="en-US" sz="1200" b="1" dirty="0">
                <a:solidFill>
                  <a:srgbClr val="FF0000"/>
                </a:solidFill>
              </a:rPr>
              <a:t>.</a:t>
            </a:r>
          </a:p>
        </p:txBody>
      </p:sp>
      <p:sp>
        <p:nvSpPr>
          <p:cNvPr id="23" name="Shape 21"/>
          <p:cNvSpPr/>
          <p:nvPr/>
        </p:nvSpPr>
        <p:spPr>
          <a:xfrm>
            <a:off x="5394960" y="3916362"/>
            <a:ext cx="3474720" cy="502920"/>
          </a:xfrm>
          <a:prstGeom prst="rect">
            <a:avLst/>
          </a:prstGeom>
          <a:solidFill>
            <a:srgbClr val="20232A"/>
          </a:solidFill>
          <a:ln w="12700">
            <a:solidFill>
              <a:srgbClr val="2023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4" name="Text 22"/>
          <p:cNvSpPr/>
          <p:nvPr/>
        </p:nvSpPr>
        <p:spPr>
          <a:xfrm>
            <a:off x="5489448" y="3957987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fontAlgn="t">
              <a:lnSpc>
                <a:spcPts val="1500"/>
              </a:lnSpc>
              <a:buNone/>
            </a:pPr>
            <a:r>
              <a:rPr lang="pt-BR" sz="1100" dirty="0">
                <a:solidFill>
                  <a:srgbClr val="61DAFB"/>
                </a:solidFill>
                <a:latin typeface="Consolas" pitchFamily="34" charset="0"/>
              </a:rPr>
              <a:t>“Pegue o último valor do estado (prev) e troque para o valor oposto.”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0232A"/>
          </a:solidFill>
          <a:ln w="12700">
            <a:solidFill>
              <a:srgbClr val="2023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365760" y="109728"/>
            <a:ext cx="1005840" cy="457200"/>
          </a:xfrm>
          <a:prstGeom prst="rect">
            <a:avLst/>
          </a:prstGeom>
          <a:solidFill>
            <a:srgbClr val="CB356B"/>
          </a:solidFill>
          <a:ln w="12700">
            <a:solidFill>
              <a:srgbClr val="CB356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365760" y="109728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Lesson 10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508760" y="109728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1DAFB"/>
                </a:solidFill>
              </a:rPr>
              <a:t>Alterando Estilo pelo Estado (Ternário)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74371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0232A"/>
                </a:solidFill>
              </a:rPr>
              <a:t>Operador Ternário: a forma compacta do if/else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65760" y="1100328"/>
            <a:ext cx="2651760" cy="320040"/>
          </a:xfrm>
          <a:prstGeom prst="rect">
            <a:avLst/>
          </a:prstGeom>
          <a:solidFill>
            <a:srgbClr val="FFF3CD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365760" y="110032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0232A"/>
                </a:solidFill>
              </a:rPr>
              <a:t>Convencional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1420368"/>
            <a:ext cx="2651760" cy="1188720"/>
          </a:xfrm>
          <a:prstGeom prst="rect">
            <a:avLst/>
          </a:prstGeom>
          <a:solidFill>
            <a:srgbClr val="1E1E2E"/>
          </a:solidFill>
          <a:ln w="12700">
            <a:solidFill>
              <a:srgbClr val="2D2D3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Text 8"/>
          <p:cNvSpPr/>
          <p:nvPr/>
        </p:nvSpPr>
        <p:spPr>
          <a:xfrm>
            <a:off x="502920" y="1511808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(estado) 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'white'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 else 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'#eee'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00400" y="1100328"/>
            <a:ext cx="2651760" cy="320040"/>
          </a:xfrm>
          <a:prstGeom prst="rect">
            <a:avLst/>
          </a:prstGeom>
          <a:solidFill>
            <a:srgbClr val="D1ECF1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" name="Text 10"/>
          <p:cNvSpPr/>
          <p:nvPr/>
        </p:nvSpPr>
        <p:spPr>
          <a:xfrm>
            <a:off x="3200400" y="110032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0232A"/>
                </a:solidFill>
              </a:rPr>
              <a:t>Simplificada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00400" y="1420368"/>
            <a:ext cx="2651760" cy="1188720"/>
          </a:xfrm>
          <a:prstGeom prst="rect">
            <a:avLst/>
          </a:prstGeom>
          <a:solidFill>
            <a:srgbClr val="1E1E2E"/>
          </a:solidFill>
          <a:ln w="12700">
            <a:solidFill>
              <a:srgbClr val="2D2D3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Text 12"/>
          <p:cNvSpPr/>
          <p:nvPr/>
        </p:nvSpPr>
        <p:spPr>
          <a:xfrm>
            <a:off x="3337560" y="1511808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(estado)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'white'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'#eee'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35040" y="1100328"/>
            <a:ext cx="2651760" cy="320040"/>
          </a:xfrm>
          <a:prstGeom prst="rect">
            <a:avLst/>
          </a:prstGeom>
          <a:solidFill>
            <a:srgbClr val="D4EDDA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Text 14"/>
          <p:cNvSpPr/>
          <p:nvPr/>
        </p:nvSpPr>
        <p:spPr>
          <a:xfrm>
            <a:off x="6035040" y="110032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0232A"/>
                </a:solidFill>
              </a:rPr>
              <a:t>Ternária ✅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35040" y="1420368"/>
            <a:ext cx="2651760" cy="1188720"/>
          </a:xfrm>
          <a:prstGeom prst="rect">
            <a:avLst/>
          </a:prstGeom>
          <a:solidFill>
            <a:srgbClr val="1E1E2E"/>
          </a:solidFill>
          <a:ln w="12700">
            <a:solidFill>
              <a:srgbClr val="2D2D3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8" name="Text 16"/>
          <p:cNvSpPr/>
          <p:nvPr/>
        </p:nvSpPr>
        <p:spPr>
          <a:xfrm>
            <a:off x="6172200" y="1511808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estado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? 'white'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: '#eee'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57200" y="258775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0232A"/>
                </a:solidFill>
              </a:rPr>
              <a:t>Aplicando no ModeloConteudo: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65760" y="2894076"/>
            <a:ext cx="5212080" cy="1665732"/>
          </a:xfrm>
          <a:prstGeom prst="rect">
            <a:avLst/>
          </a:prstGeom>
          <a:solidFill>
            <a:srgbClr val="1E1E2E"/>
          </a:solidFill>
          <a:ln w="12700">
            <a:solidFill>
              <a:srgbClr val="2D2D3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1" name="Text 19"/>
          <p:cNvSpPr/>
          <p:nvPr/>
        </p:nvSpPr>
        <p:spPr>
          <a:xfrm>
            <a:off x="457200" y="3017520"/>
            <a:ext cx="5120640" cy="1943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ModeloConteudo = styled.div`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1150" dirty="0">
                <a:solidFill>
                  <a:srgbClr val="FFF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background: ${({ $estado }) =&gt; $</a:t>
            </a:r>
            <a:r>
              <a:rPr lang="en-US" sz="1150" dirty="0" err="1">
                <a:solidFill>
                  <a:srgbClr val="FFF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estado</a:t>
            </a:r>
            <a:r>
              <a:rPr lang="en-US" sz="1150" dirty="0">
                <a:solidFill>
                  <a:srgbClr val="FFF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? 'white' :'#</a:t>
            </a:r>
            <a:r>
              <a:rPr lang="en-US" sz="1150" dirty="0" err="1">
                <a:solidFill>
                  <a:srgbClr val="FFF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eee</a:t>
            </a:r>
            <a:r>
              <a:rPr lang="en-US" sz="1150" dirty="0">
                <a:solidFill>
                  <a:srgbClr val="FFF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’ };</a:t>
            </a:r>
            <a:endParaRPr lang="en-US" sz="1150" dirty="0">
              <a:solidFill>
                <a:srgbClr val="FFFF00"/>
              </a:solidFill>
            </a:endParaRPr>
          </a:p>
          <a:p>
            <a:pPr marL="0" indent="0">
              <a:buNone/>
            </a:pPr>
            <a:r>
              <a:rPr lang="en-US" sz="115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margin-bottom: 16px;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padding: 16px;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text-align: center;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1150" dirty="0">
                <a:solidFill>
                  <a:srgbClr val="FFF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text-decoration: ${</a:t>
            </a:r>
            <a:endParaRPr lang="en-US" sz="1150" dirty="0">
              <a:solidFill>
                <a:srgbClr val="FFFF00"/>
              </a:solidFill>
            </a:endParaRPr>
          </a:p>
          <a:p>
            <a:pPr marL="0" indent="0">
              <a:buNone/>
            </a:pPr>
            <a:r>
              <a:rPr lang="en-US" sz="1150" dirty="0">
                <a:solidFill>
                  <a:srgbClr val="FFF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({ $estado }) =&gt; $</a:t>
            </a:r>
            <a:r>
              <a:rPr lang="en-US" sz="1150" dirty="0" err="1">
                <a:solidFill>
                  <a:srgbClr val="FFF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estado</a:t>
            </a:r>
            <a:r>
              <a:rPr lang="en-US" sz="1150" dirty="0">
                <a:solidFill>
                  <a:srgbClr val="FFF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? 'line-through' : 'none’ };</a:t>
            </a:r>
          </a:p>
          <a:p>
            <a:pPr marL="0" indent="0">
              <a:buNone/>
            </a:pPr>
            <a:r>
              <a:rPr lang="en-US" sz="1150" dirty="0">
                <a:solidFill>
                  <a:srgbClr val="FFFF00"/>
                </a:solidFill>
                <a:latin typeface="Consolas" pitchFamily="34" charset="0"/>
              </a:rPr>
              <a:t>  Cursor: pointer;</a:t>
            </a:r>
            <a:endParaRPr lang="en-US" sz="1150" dirty="0">
              <a:solidFill>
                <a:srgbClr val="FFFF00"/>
              </a:solidFill>
            </a:endParaRPr>
          </a:p>
          <a:p>
            <a:pPr marL="0" indent="0">
              <a:buNone/>
            </a:pPr>
            <a:r>
              <a:rPr lang="en-US" sz="115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`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5669280" y="258775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0232A"/>
                </a:solidFill>
              </a:rPr>
              <a:t>Resultado visual: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669280" y="2999232"/>
            <a:ext cx="3200400" cy="548640"/>
          </a:xfrm>
          <a:prstGeom prst="rect">
            <a:avLst/>
          </a:prstGeom>
          <a:solidFill>
            <a:srgbClr val="EEEEEE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4" name="Text 22"/>
          <p:cNvSpPr/>
          <p:nvPr/>
        </p:nvSpPr>
        <p:spPr>
          <a:xfrm>
            <a:off x="5669280" y="2999232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0232A"/>
                </a:solidFill>
              </a:rPr>
              <a:t>Tirar o lixo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669280" y="3593592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555F6E"/>
                </a:solidFill>
              </a:rPr>
              <a:t>feito: false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669280" y="3867912"/>
            <a:ext cx="32004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7" name="Text 25"/>
          <p:cNvSpPr/>
          <p:nvPr/>
        </p:nvSpPr>
        <p:spPr>
          <a:xfrm>
            <a:off x="5669280" y="3867912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strike="sngStrike" dirty="0">
                <a:solidFill>
                  <a:srgbClr val="AAAAAA"/>
                </a:solidFill>
              </a:rPr>
              <a:t>Tirar o lixo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669280" y="4462272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28A745"/>
                </a:solidFill>
              </a:rPr>
              <a:t>feito: true  ✅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365760" y="4683252"/>
            <a:ext cx="5212080" cy="411480"/>
          </a:xfrm>
          <a:prstGeom prst="rect">
            <a:avLst/>
          </a:prstGeom>
          <a:solidFill>
            <a:srgbClr val="20232A"/>
          </a:solidFill>
          <a:ln w="12700">
            <a:solidFill>
              <a:srgbClr val="2023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0" name="Text 28"/>
          <p:cNvSpPr/>
          <p:nvPr/>
        </p:nvSpPr>
        <p:spPr>
          <a:xfrm>
            <a:off x="435864" y="4690872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1DAFB"/>
                </a:solidFill>
              </a:rPr>
              <a:t>SC v6: use $estado (com $) — transient prop: nao vaza para o HTML, evita avisos no console!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0232A"/>
          </a:solidFill>
          <a:ln w="12700">
            <a:solidFill>
              <a:srgbClr val="2023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365760" y="109728"/>
            <a:ext cx="1005840" cy="457200"/>
          </a:xfrm>
          <a:prstGeom prst="rect">
            <a:avLst/>
          </a:prstGeom>
          <a:solidFill>
            <a:srgbClr val="CB356B"/>
          </a:solidFill>
          <a:ln w="12700">
            <a:solidFill>
              <a:srgbClr val="CB356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365760" y="109728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Lesson 11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508760" y="109728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1DAFB"/>
                </a:solidFill>
              </a:rPr>
              <a:t>Componente Entrada (Input de Texto)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804672"/>
            <a:ext cx="4754880" cy="4434840"/>
          </a:xfrm>
          <a:prstGeom prst="rect">
            <a:avLst/>
          </a:prstGeom>
          <a:solidFill>
            <a:srgbClr val="1E1E2E"/>
          </a:solidFill>
          <a:ln w="12700">
            <a:solidFill>
              <a:srgbClr val="2D2D3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594360" y="896112"/>
            <a:ext cx="4480560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styled from "styled-components"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ModeloEntrada = styled.input`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background: white;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border: none;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height: 42px;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font-size: 16px;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margin: 0;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padding: 0;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text-align: center;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width: 100%;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`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export function Entrada() 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(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&lt;ModeloEntrada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type="text"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placeholder="Digite um novo conteúdo"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name="conteudo"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94960" y="80467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0232A"/>
                </a:solidFill>
              </a:rPr>
              <a:t>Atributos do &lt;input&gt;: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394960" y="1261872"/>
            <a:ext cx="34747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Text 8"/>
          <p:cNvSpPr/>
          <p:nvPr/>
        </p:nvSpPr>
        <p:spPr>
          <a:xfrm>
            <a:off x="5532120" y="131673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B35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type="text"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532120" y="160020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F6E"/>
                </a:solidFill>
              </a:rPr>
              <a:t>Define que é uma caixa de texto (não senha, não número)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394960" y="2221992"/>
            <a:ext cx="34747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" name="Text 11"/>
          <p:cNvSpPr/>
          <p:nvPr/>
        </p:nvSpPr>
        <p:spPr>
          <a:xfrm>
            <a:off x="5532120" y="227685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B35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placeholder="..."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532120" y="256032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F6E"/>
                </a:solidFill>
              </a:rPr>
              <a:t>Texto de dica que aparece quando está vazio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394960" y="3182112"/>
            <a:ext cx="34747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Text 14"/>
          <p:cNvSpPr/>
          <p:nvPr/>
        </p:nvSpPr>
        <p:spPr>
          <a:xfrm>
            <a:off x="5532120" y="323697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B35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name="conteudo"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532120" y="352044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F6E"/>
                </a:solidFill>
              </a:rPr>
              <a:t>Nome do campo — usamos para recuperar o valor depois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394960" y="3977640"/>
            <a:ext cx="3474720" cy="548640"/>
          </a:xfrm>
          <a:prstGeom prst="rect">
            <a:avLst/>
          </a:prstGeom>
          <a:solidFill>
            <a:srgbClr val="FFFFFF"/>
          </a:solidFill>
          <a:ln w="2540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9" name="Text 17"/>
          <p:cNvSpPr/>
          <p:nvPr/>
        </p:nvSpPr>
        <p:spPr>
          <a:xfrm>
            <a:off x="5394960" y="397764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AAAAAA"/>
                </a:solidFill>
              </a:rPr>
              <a:t>Digite um novo conteúdo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394960" y="46177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0232A"/>
                </a:solidFill>
              </a:rPr>
              <a:t>No </a:t>
            </a:r>
            <a:r>
              <a:rPr lang="en-US" sz="1100" b="1" dirty="0" err="1">
                <a:solidFill>
                  <a:srgbClr val="20232A"/>
                </a:solidFill>
              </a:rPr>
              <a:t>Inicio.jsx</a:t>
            </a:r>
            <a:r>
              <a:rPr lang="en-US" sz="1100" b="1" dirty="0">
                <a:solidFill>
                  <a:srgbClr val="20232A"/>
                </a:solidFill>
              </a:rPr>
              <a:t>: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394960" y="4919472"/>
            <a:ext cx="3474720" cy="1188720"/>
          </a:xfrm>
          <a:prstGeom prst="rect">
            <a:avLst/>
          </a:prstGeom>
          <a:solidFill>
            <a:srgbClr val="1E1E2E"/>
          </a:solidFill>
          <a:ln w="12700">
            <a:solidFill>
              <a:srgbClr val="2D2D3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2" name="Text 20"/>
          <p:cNvSpPr/>
          <p:nvPr/>
        </p:nvSpPr>
        <p:spPr>
          <a:xfrm>
            <a:off x="5532120" y="5010912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&lt;Campo id="1"&gt;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&lt;form&gt;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&lt;Entrada/&gt;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&lt;/form&gt;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&lt;/Campo&gt;</a:t>
            </a:r>
            <a:endParaRPr lang="en-US" sz="1000" dirty="0"/>
          </a:p>
        </p:txBody>
      </p:sp>
      <p:sp>
        <p:nvSpPr>
          <p:cNvPr id="23" name="Triângulo isósceles 22">
            <a:extLst>
              <a:ext uri="{FF2B5EF4-FFF2-40B4-BE49-F238E27FC236}">
                <a16:creationId xmlns:a16="http://schemas.microsoft.com/office/drawing/2014/main" id="{01F77C20-D7D2-8FD1-B03F-11132B88B7F7}"/>
              </a:ext>
            </a:extLst>
          </p:cNvPr>
          <p:cNvSpPr/>
          <p:nvPr/>
        </p:nvSpPr>
        <p:spPr>
          <a:xfrm>
            <a:off x="2676144" y="713232"/>
            <a:ext cx="3791712" cy="3069336"/>
          </a:xfrm>
          <a:prstGeom prst="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0232A"/>
          </a:solidFill>
          <a:ln w="12700">
            <a:solidFill>
              <a:srgbClr val="2023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365760" y="109728"/>
            <a:ext cx="1005840" cy="457200"/>
          </a:xfrm>
          <a:prstGeom prst="rect">
            <a:avLst/>
          </a:prstGeom>
          <a:solidFill>
            <a:srgbClr val="CB356B"/>
          </a:solidFill>
          <a:ln w="12700">
            <a:solidFill>
              <a:srgbClr val="CB356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365760" y="109728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Lesson 12-13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508760" y="109728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1DAFB"/>
                </a:solidFill>
              </a:rPr>
              <a:t>Configurando a Lista com useState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80467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0232A"/>
                </a:solidFill>
              </a:rPr>
              <a:t>No </a:t>
            </a:r>
            <a:r>
              <a:rPr lang="en-US" sz="1300" dirty="0" err="1">
                <a:solidFill>
                  <a:srgbClr val="20232A"/>
                </a:solidFill>
              </a:rPr>
              <a:t>Inicio.jsx</a:t>
            </a:r>
            <a:r>
              <a:rPr lang="en-US" sz="1300" dirty="0">
                <a:solidFill>
                  <a:srgbClr val="20232A"/>
                </a:solidFill>
              </a:rPr>
              <a:t> — criamos o estado da lista: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234440"/>
            <a:ext cx="4754880" cy="4892040"/>
          </a:xfrm>
          <a:prstGeom prst="rect">
            <a:avLst/>
          </a:prstGeom>
          <a:solidFill>
            <a:srgbClr val="1E1E2E"/>
          </a:solidFill>
          <a:ln w="12700">
            <a:solidFill>
              <a:srgbClr val="2D2D3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594360" y="1325880"/>
            <a:ext cx="4480560" cy="4709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{ useState } from "react"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export function Inicio() {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// Lista começa vazia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[ lista, definirLista ] = useState("")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// Função chamada quando o form é enviado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function Adicionar(evento) 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const valor = evento.target.conteudo.value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definirLista(valor)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evento.preventDefault() // não recarrega a página!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&lt;&gt;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&lt;Titulo nome="Velejando com o React" /&gt;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&lt;Campo id="1"&gt;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&lt;form onSubmit={Adicionar}&gt;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&lt;Entrada /&gt;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&lt;/form&gt;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&lt;/Campo&gt;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&lt;Campo id="2"&gt;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&lt;Conteudo texto={lista}/&gt;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&lt;/Campo&gt;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&lt;/&gt;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394960" y="80467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0232A"/>
                </a:solidFill>
              </a:rPr>
              <a:t>Entendendo o Adicionar():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394960" y="1261872"/>
            <a:ext cx="3474720" cy="667512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/>
          <p:nvPr/>
        </p:nvSpPr>
        <p:spPr>
          <a:xfrm>
            <a:off x="5532120" y="130759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B35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evento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532120" y="157276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F6E"/>
                </a:solidFill>
              </a:rPr>
              <a:t>Informações do formulário enviado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394960" y="2020824"/>
            <a:ext cx="3474720" cy="667512"/>
          </a:xfrm>
          <a:prstGeom prst="rect">
            <a:avLst/>
          </a:prstGeom>
          <a:solidFill>
            <a:srgbClr val="F8F9FA"/>
          </a:solidFill>
          <a:ln w="12700">
            <a:solidFill>
              <a:srgbClr val="E0E8F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Text 12"/>
          <p:cNvSpPr/>
          <p:nvPr/>
        </p:nvSpPr>
        <p:spPr>
          <a:xfrm>
            <a:off x="5532120" y="206654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B35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.target.conteudo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532120" y="23317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F6E"/>
                </a:solidFill>
              </a:rPr>
              <a:t>Acessa o campo com name="conteudo"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394960" y="2779776"/>
            <a:ext cx="3474720" cy="667512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Text 15"/>
          <p:cNvSpPr/>
          <p:nvPr/>
        </p:nvSpPr>
        <p:spPr>
          <a:xfrm>
            <a:off x="5532120" y="282549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B35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.value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532120" y="309067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F6E"/>
                </a:solidFill>
              </a:rPr>
              <a:t>Pega o texto que o usuário digitou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394960" y="3538728"/>
            <a:ext cx="3474720" cy="667512"/>
          </a:xfrm>
          <a:prstGeom prst="rect">
            <a:avLst/>
          </a:prstGeom>
          <a:solidFill>
            <a:srgbClr val="F8F9FA"/>
          </a:solidFill>
          <a:ln w="12700">
            <a:solidFill>
              <a:srgbClr val="E0E8F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0" name="Text 18"/>
          <p:cNvSpPr/>
          <p:nvPr/>
        </p:nvSpPr>
        <p:spPr>
          <a:xfrm>
            <a:off x="5532120" y="358444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B35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definirLista(valor)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532120" y="3849624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F6E"/>
                </a:solidFill>
              </a:rPr>
              <a:t>Atualiza o estado e re-renderiza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394960" y="4297680"/>
            <a:ext cx="3474720" cy="667512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3" name="Text 21"/>
          <p:cNvSpPr/>
          <p:nvPr/>
        </p:nvSpPr>
        <p:spPr>
          <a:xfrm>
            <a:off x="5532120" y="434340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B35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preventDefault()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532120" y="4608576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F6E"/>
                </a:solidFill>
              </a:rPr>
              <a:t>Impede a página de recarregar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0232A"/>
          </a:solidFill>
          <a:ln w="12700">
            <a:solidFill>
              <a:srgbClr val="2023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365760" y="109728"/>
            <a:ext cx="1005840" cy="457200"/>
          </a:xfrm>
          <a:prstGeom prst="rect">
            <a:avLst/>
          </a:prstGeom>
          <a:solidFill>
            <a:srgbClr val="CB356B"/>
          </a:solidFill>
          <a:ln w="12700">
            <a:solidFill>
              <a:srgbClr val="CB356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365760" y="109728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Lesson 14-15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508760" y="109728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1DAFB"/>
                </a:solidFill>
              </a:rPr>
              <a:t>Adicionando Tarefas e Mapeando a Lista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80467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0232A"/>
                </a:solidFill>
              </a:rPr>
              <a:t>Mudança: de String para Array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234440"/>
            <a:ext cx="4754880" cy="3337560"/>
          </a:xfrm>
          <a:prstGeom prst="rect">
            <a:avLst/>
          </a:prstGeom>
          <a:solidFill>
            <a:srgbClr val="1E1E2E"/>
          </a:solidFill>
          <a:ln w="12700">
            <a:solidFill>
              <a:srgbClr val="2D2D3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594360" y="1325880"/>
            <a:ext cx="448056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ANTES (só 1 valor):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[ lista, definirLista ] = useState("")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DEPOIS (vários valores):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[ lista, definirLista ] = useState([])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Função atualizada: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Adicionar(evento) 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valor = evento.target.conteudo.value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definirLista([...lista, valor])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//            ↑ copia a lista atual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//                      ↑ adiciona o novo item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evento.preventDefault()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4663440"/>
            <a:ext cx="4754880" cy="548640"/>
          </a:xfrm>
          <a:prstGeom prst="rect">
            <a:avLst/>
          </a:prstGeom>
          <a:solidFill>
            <a:srgbClr val="FFF3CD"/>
          </a:solidFill>
          <a:ln w="12700">
            <a:solidFill>
              <a:srgbClr val="FFEAA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Text 8"/>
          <p:cNvSpPr/>
          <p:nvPr/>
        </p:nvSpPr>
        <p:spPr>
          <a:xfrm>
            <a:off x="548640" y="466344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56404"/>
                </a:solidFill>
              </a:rPr>
              <a:t>💡 ...lista = "spread operator" — expande todos os itens da lista anterior numa nova lista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394960" y="80467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0232A"/>
                </a:solidFill>
              </a:rPr>
              <a:t>Renderizando com .map():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394960" y="1234440"/>
            <a:ext cx="3474720" cy="2286000"/>
          </a:xfrm>
          <a:prstGeom prst="rect">
            <a:avLst/>
          </a:prstGeom>
          <a:solidFill>
            <a:srgbClr val="1E1E2E"/>
          </a:solidFill>
          <a:ln w="12700">
            <a:solidFill>
              <a:srgbClr val="2D2D3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" name="Text 11"/>
          <p:cNvSpPr/>
          <p:nvPr/>
        </p:nvSpPr>
        <p:spPr>
          <a:xfrm>
            <a:off x="5532120" y="1325880"/>
            <a:ext cx="32004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Exemplo com animais: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animais = ["Galinha","Porco"]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animais.map(function(animal) 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&lt;h1&gt;{animal}&lt;/h1&gt;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Resultado: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&lt;h1&gt;Galinha&lt;/h1&gt;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&lt;h1&gt;Porco&lt;/h1&gt;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394960" y="361188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0232A"/>
                </a:solidFill>
              </a:rPr>
              <a:t>No </a:t>
            </a:r>
            <a:r>
              <a:rPr lang="en-US" sz="1200" b="1" dirty="0" err="1">
                <a:solidFill>
                  <a:srgbClr val="20232A"/>
                </a:solidFill>
              </a:rPr>
              <a:t>Inicio.jsx</a:t>
            </a:r>
            <a:r>
              <a:rPr lang="en-US" sz="1200" b="1" dirty="0">
                <a:solidFill>
                  <a:srgbClr val="20232A"/>
                </a:solidFill>
              </a:rPr>
              <a:t>: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394960" y="3977640"/>
            <a:ext cx="3474720" cy="2286000"/>
          </a:xfrm>
          <a:prstGeom prst="rect">
            <a:avLst/>
          </a:prstGeom>
          <a:solidFill>
            <a:srgbClr val="1E1E2E"/>
          </a:solidFill>
          <a:ln w="12700">
            <a:solidFill>
              <a:srgbClr val="2D2D3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Text 14"/>
          <p:cNvSpPr/>
          <p:nvPr/>
        </p:nvSpPr>
        <p:spPr>
          <a:xfrm>
            <a:off x="5532120" y="4069080"/>
            <a:ext cx="32004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&lt;Campo id="2"&gt;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lista.map(function(item) 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return (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&lt;Conteudo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key={item}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texto={item}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/&gt;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&lt;/Campo&gt;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257800" y="2560320"/>
            <a:ext cx="109728" cy="1188720"/>
          </a:xfrm>
          <a:prstGeom prst="rect">
            <a:avLst/>
          </a:prstGeom>
          <a:solidFill>
            <a:srgbClr val="61DAFB"/>
          </a:solidFill>
          <a:ln w="12700">
            <a:solidFill>
              <a:srgbClr val="61DAF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0232A"/>
          </a:solidFill>
          <a:ln w="12700">
            <a:solidFill>
              <a:srgbClr val="2023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365760" y="109728"/>
            <a:ext cx="1005840" cy="457200"/>
          </a:xfrm>
          <a:prstGeom prst="rect">
            <a:avLst/>
          </a:prstGeom>
          <a:solidFill>
            <a:srgbClr val="CB356B"/>
          </a:solidFill>
          <a:ln w="12700">
            <a:solidFill>
              <a:srgbClr val="CB356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365760" y="109728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Lesson 16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508760" y="109728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1DAFB"/>
                </a:solidFill>
              </a:rPr>
              <a:t>Resumo do que Aprendemos!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365760" y="822960"/>
            <a:ext cx="265176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7" name="Shape 5"/>
          <p:cNvSpPr/>
          <p:nvPr/>
        </p:nvSpPr>
        <p:spPr>
          <a:xfrm>
            <a:off x="502920" y="960120"/>
            <a:ext cx="502920" cy="502920"/>
          </a:xfrm>
          <a:prstGeom prst="ellipse">
            <a:avLst/>
          </a:prstGeom>
          <a:solidFill>
            <a:srgbClr val="20232A"/>
          </a:solidFill>
          <a:ln w="12700">
            <a:solidFill>
              <a:srgbClr val="2023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502920" y="960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🏗️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97280" y="96012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0232A"/>
                </a:solidFill>
              </a:rPr>
              <a:t>Estrutura do Projeto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02920" y="14630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F6E"/>
                </a:solidFill>
              </a:rPr>
              <a:t>Vite + React + Styled Components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00400" y="822960"/>
            <a:ext cx="265176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2" name="Shape 10"/>
          <p:cNvSpPr/>
          <p:nvPr/>
        </p:nvSpPr>
        <p:spPr>
          <a:xfrm>
            <a:off x="3337560" y="960120"/>
            <a:ext cx="502920" cy="502920"/>
          </a:xfrm>
          <a:prstGeom prst="ellipse">
            <a:avLst/>
          </a:prstGeom>
          <a:solidFill>
            <a:srgbClr val="20232A"/>
          </a:solidFill>
          <a:ln w="12700">
            <a:solidFill>
              <a:srgbClr val="2023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" name="Text 11"/>
          <p:cNvSpPr/>
          <p:nvPr/>
        </p:nvSpPr>
        <p:spPr>
          <a:xfrm>
            <a:off x="3337560" y="960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🎨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931920" y="96012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0232A"/>
                </a:solidFill>
              </a:rPr>
              <a:t>Styled Components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337560" y="14630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F6E"/>
                </a:solidFill>
              </a:rPr>
              <a:t>CSS dentro do JavaScript, com props!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35040" y="822960"/>
            <a:ext cx="265176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7" name="Shape 15"/>
          <p:cNvSpPr/>
          <p:nvPr/>
        </p:nvSpPr>
        <p:spPr>
          <a:xfrm>
            <a:off x="6172200" y="960120"/>
            <a:ext cx="502920" cy="502920"/>
          </a:xfrm>
          <a:prstGeom prst="ellipse">
            <a:avLst/>
          </a:prstGeom>
          <a:solidFill>
            <a:srgbClr val="20232A"/>
          </a:solidFill>
          <a:ln w="12700">
            <a:solidFill>
              <a:srgbClr val="2023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8" name="Text 16"/>
          <p:cNvSpPr/>
          <p:nvPr/>
        </p:nvSpPr>
        <p:spPr>
          <a:xfrm>
            <a:off x="6172200" y="960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📅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766560" y="96012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0232A"/>
                </a:solidFill>
              </a:rPr>
              <a:t>Manipulação de Datas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172200" y="14630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F6E"/>
                </a:solidFill>
              </a:rPr>
              <a:t>new Date() e toLocaleDateString()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286000"/>
            <a:ext cx="265176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2" name="Shape 20"/>
          <p:cNvSpPr/>
          <p:nvPr/>
        </p:nvSpPr>
        <p:spPr>
          <a:xfrm>
            <a:off x="502920" y="2423160"/>
            <a:ext cx="502920" cy="502920"/>
          </a:xfrm>
          <a:prstGeom prst="ellipse">
            <a:avLst/>
          </a:prstGeom>
          <a:solidFill>
            <a:srgbClr val="20232A"/>
          </a:solidFill>
          <a:ln w="12700">
            <a:solidFill>
              <a:srgbClr val="2023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3" name="Text 21"/>
          <p:cNvSpPr/>
          <p:nvPr/>
        </p:nvSpPr>
        <p:spPr>
          <a:xfrm>
            <a:off x="502920" y="24231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🔀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97280" y="242316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0232A"/>
                </a:solidFill>
              </a:rPr>
              <a:t>useState Hook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02920" y="292608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F6E"/>
                </a:solidFill>
              </a:rPr>
              <a:t>Estado de componentes com definidor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200400" y="2286000"/>
            <a:ext cx="265176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7" name="Shape 25"/>
          <p:cNvSpPr/>
          <p:nvPr/>
        </p:nvSpPr>
        <p:spPr>
          <a:xfrm>
            <a:off x="3337560" y="2423160"/>
            <a:ext cx="502920" cy="502920"/>
          </a:xfrm>
          <a:prstGeom prst="ellipse">
            <a:avLst/>
          </a:prstGeom>
          <a:solidFill>
            <a:srgbClr val="20232A"/>
          </a:solidFill>
          <a:ln w="12700">
            <a:solidFill>
              <a:srgbClr val="2023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8" name="Text 26"/>
          <p:cNvSpPr/>
          <p:nvPr/>
        </p:nvSpPr>
        <p:spPr>
          <a:xfrm>
            <a:off x="3337560" y="24231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🖱️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3931920" y="242316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0232A"/>
                </a:solidFill>
              </a:rPr>
              <a:t>Eventos (onClick)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3337560" y="292608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F6E"/>
                </a:solidFill>
              </a:rPr>
              <a:t>Reagindo a cliques do usuário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035040" y="2286000"/>
            <a:ext cx="265176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32" name="Shape 30"/>
          <p:cNvSpPr/>
          <p:nvPr/>
        </p:nvSpPr>
        <p:spPr>
          <a:xfrm>
            <a:off x="6172200" y="2423160"/>
            <a:ext cx="502920" cy="502920"/>
          </a:xfrm>
          <a:prstGeom prst="ellipse">
            <a:avLst/>
          </a:prstGeom>
          <a:solidFill>
            <a:srgbClr val="20232A"/>
          </a:solidFill>
          <a:ln w="12700">
            <a:solidFill>
              <a:srgbClr val="2023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3" name="Text 31"/>
          <p:cNvSpPr/>
          <p:nvPr/>
        </p:nvSpPr>
        <p:spPr>
          <a:xfrm>
            <a:off x="6172200" y="24231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🔢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6766560" y="242316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0232A"/>
                </a:solidFill>
              </a:rPr>
              <a:t>Array e .map()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172200" y="292608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F6E"/>
                </a:solidFill>
              </a:rPr>
              <a:t>Renderizar listas dinamicamente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57200" y="4434840"/>
            <a:ext cx="8229600" cy="640080"/>
          </a:xfrm>
          <a:prstGeom prst="rect">
            <a:avLst/>
          </a:prstGeom>
          <a:solidFill>
            <a:srgbClr val="20232A"/>
          </a:solidFill>
          <a:ln w="12700">
            <a:solidFill>
              <a:srgbClr val="2023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7" name="Text 35"/>
          <p:cNvSpPr/>
          <p:nvPr/>
        </p:nvSpPr>
        <p:spPr>
          <a:xfrm>
            <a:off x="457200" y="44348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1DAFB"/>
                </a:solidFill>
              </a:rPr>
              <a:t>🎉  Parabéns! Você construiu uma Todo List completa com React!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0232A"/>
          </a:solidFill>
          <a:ln w="12700">
            <a:solidFill>
              <a:srgbClr val="2023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365760" y="109728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1DAFB"/>
                </a:solidFill>
              </a:rPr>
              <a:t>Desafios Para Praticar 🚀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804672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0232A"/>
                </a:solidFill>
              </a:rPr>
              <a:t>Quer ir além? Tente esses desafios!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822960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64008" cy="777240"/>
          </a:xfrm>
          <a:prstGeom prst="rect">
            <a:avLst/>
          </a:prstGeom>
          <a:solidFill>
            <a:srgbClr val="CB356B"/>
          </a:solidFill>
          <a:ln w="12700">
            <a:solidFill>
              <a:srgbClr val="CB356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640080" y="13716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555F6E"/>
                </a:solidFill>
              </a:rPr>
              <a:t>⭐ Fácil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011680" y="1353312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0232A"/>
                </a:solidFill>
              </a:rPr>
              <a:t>Mudar as cores do degradê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1664208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F6E"/>
                </a:solidFill>
              </a:rPr>
              <a:t>Experimente novas cores no linear-gradient() do componente Título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2240280"/>
            <a:ext cx="822960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Shape 9"/>
          <p:cNvSpPr/>
          <p:nvPr/>
        </p:nvSpPr>
        <p:spPr>
          <a:xfrm>
            <a:off x="457200" y="2240280"/>
            <a:ext cx="64008" cy="777240"/>
          </a:xfrm>
          <a:prstGeom prst="rect">
            <a:avLst/>
          </a:prstGeom>
          <a:solidFill>
            <a:srgbClr val="CB356B"/>
          </a:solidFill>
          <a:ln w="12700">
            <a:solidFill>
              <a:srgbClr val="CB356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" name="Text 10"/>
          <p:cNvSpPr/>
          <p:nvPr/>
        </p:nvSpPr>
        <p:spPr>
          <a:xfrm>
            <a:off x="640080" y="22860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555F6E"/>
                </a:solidFill>
              </a:rPr>
              <a:t>⭐⭐ Médio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011680" y="2267712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0232A"/>
                </a:solidFill>
              </a:rPr>
              <a:t>Limpar o input após adicionar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40080" y="2578608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F6E"/>
                </a:solidFill>
              </a:rPr>
              <a:t>Após adicionar, limpe o campo: evento.target.conteudo.value = ''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3154680"/>
            <a:ext cx="822960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Shape 14"/>
          <p:cNvSpPr/>
          <p:nvPr/>
        </p:nvSpPr>
        <p:spPr>
          <a:xfrm>
            <a:off x="457200" y="3154680"/>
            <a:ext cx="64008" cy="777240"/>
          </a:xfrm>
          <a:prstGeom prst="rect">
            <a:avLst/>
          </a:prstGeom>
          <a:solidFill>
            <a:srgbClr val="CB356B"/>
          </a:solidFill>
          <a:ln w="12700">
            <a:solidFill>
              <a:srgbClr val="CB356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Text 15"/>
          <p:cNvSpPr/>
          <p:nvPr/>
        </p:nvSpPr>
        <p:spPr>
          <a:xfrm>
            <a:off x="640080" y="32004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555F6E"/>
                </a:solidFill>
              </a:rPr>
              <a:t>⭐⭐ Médio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011680" y="3182112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0232A"/>
                </a:solidFill>
              </a:rPr>
              <a:t>Contador de tarefas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3493008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F6E"/>
                </a:solidFill>
              </a:rPr>
              <a:t>Mostre quantas tarefas estão na lista usando lista.length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" y="4069080"/>
            <a:ext cx="822960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1" name="Shape 19"/>
          <p:cNvSpPr/>
          <p:nvPr/>
        </p:nvSpPr>
        <p:spPr>
          <a:xfrm>
            <a:off x="457200" y="4069080"/>
            <a:ext cx="64008" cy="777240"/>
          </a:xfrm>
          <a:prstGeom prst="rect">
            <a:avLst/>
          </a:prstGeom>
          <a:solidFill>
            <a:srgbClr val="CB356B"/>
          </a:solidFill>
          <a:ln w="12700">
            <a:solidFill>
              <a:srgbClr val="CB356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2" name="Text 20"/>
          <p:cNvSpPr/>
          <p:nvPr/>
        </p:nvSpPr>
        <p:spPr>
          <a:xfrm>
            <a:off x="640080" y="4114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555F6E"/>
                </a:solidFill>
              </a:rPr>
              <a:t>⭐⭐⭐ Difícil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011680" y="4096512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0232A"/>
                </a:solidFill>
              </a:rPr>
              <a:t>Remover tarefas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40080" y="4407408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F6E"/>
                </a:solidFill>
              </a:rPr>
              <a:t>Adicione um botão ✖ em cada tarefa para removê-la da lista usando filter()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57200" y="4892040"/>
            <a:ext cx="8229600" cy="155448"/>
          </a:xfrm>
          <a:prstGeom prst="rect">
            <a:avLst/>
          </a:prstGeom>
          <a:solidFill>
            <a:srgbClr val="61DAFB"/>
          </a:solidFill>
          <a:ln w="12700">
            <a:solidFill>
              <a:srgbClr val="61DAF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287</TotalTime>
  <Words>2920</Words>
  <Application>Microsoft Office PowerPoint</Application>
  <PresentationFormat>Apresentação na tela (16:9)</PresentationFormat>
  <Paragraphs>574</Paragraphs>
  <Slides>20</Slides>
  <Notes>20</Notes>
  <HiddenSlides>0</HiddenSlides>
  <MMClips>0</MMClips>
  <ScaleCrop>false</ScaleCrop>
  <HeadingPairs>
    <vt:vector size="6" baseType="variant">
      <vt:variant>
        <vt:lpstr>Fontes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20</vt:i4>
      </vt:variant>
    </vt:vector>
  </HeadingPairs>
  <TitlesOfParts>
    <vt:vector size="23" baseType="lpstr">
      <vt:lpstr>Arial</vt:lpstr>
      <vt:lpstr>Consolas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React Aula 3 - Todo List com useState</dc:title>
  <dc:subject>PptxGenJS Presentation</dc:subject>
  <dc:creator>PptxGenJS</dc:creator>
  <cp:lastModifiedBy>Emanuele Magalhães</cp:lastModifiedBy>
  <cp:revision>4</cp:revision>
  <dcterms:created xsi:type="dcterms:W3CDTF">2026-03-08T20:37:57Z</dcterms:created>
  <dcterms:modified xsi:type="dcterms:W3CDTF">2026-03-23T00:01:34Z</dcterms:modified>
</cp:coreProperties>
</file>